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Arimo" charset="1" panose="020B0604020202020204"/>
      <p:regular r:id="rId51"/>
    </p:embeddedFont>
    <p:embeddedFont>
      <p:font typeface="Arial" charset="1" panose="020B0604020202020204"/>
      <p:regular r:id="rId52"/>
    </p:embeddedFont>
    <p:embeddedFont>
      <p:font typeface="Arial Bold" charset="1" panose="020B0704020202020204"/>
      <p:regular r:id="rId54"/>
    </p:embeddedFont>
    <p:embeddedFont>
      <p:font typeface="Arimo Bold" charset="1" panose="020B0704020202020204"/>
      <p:regular r:id="rId55"/>
    </p:embeddedFont>
    <p:embeddedFont>
      <p:font typeface="Calibri (MS)" charset="1" panose="020F0502020204030204"/>
      <p:regular r:id="rId58"/>
    </p:embeddedFont>
    <p:embeddedFont>
      <p:font typeface="Calibri (MS) Bold" charset="1" panose="020F0702030404030204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notesMasters/notesMaster1.xml" Type="http://schemas.openxmlformats.org/officeDocument/2006/relationships/notesMaster"/><Relationship Id="rId49" Target="theme/theme2.xml" Type="http://schemas.openxmlformats.org/officeDocument/2006/relationships/theme"/><Relationship Id="rId5" Target="tableStyles.xml" Type="http://schemas.openxmlformats.org/officeDocument/2006/relationships/tableStyles"/><Relationship Id="rId50" Target="notesSlides/notesSlide1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2.xml" Type="http://schemas.openxmlformats.org/officeDocument/2006/relationships/notesSlide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notesSlides/notesSlide3.xml" Type="http://schemas.openxmlformats.org/officeDocument/2006/relationships/notesSlide"/><Relationship Id="rId57" Target="notesSlides/notesSlide4.xml" Type="http://schemas.openxmlformats.org/officeDocument/2006/relationships/notesSlide"/><Relationship Id="rId58" Target="fonts/font58.fntdata" Type="http://schemas.openxmlformats.org/officeDocument/2006/relationships/font"/><Relationship Id="rId59" Target="notesSlides/notesSlide5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notesSlides/notesSlide6.xml" Type="http://schemas.openxmlformats.org/officeDocument/2006/relationships/notesSlide"/><Relationship Id="rId62" Target="notesSlides/notesSlide7.xml" Type="http://schemas.openxmlformats.org/officeDocument/2006/relationships/notesSlide"/><Relationship Id="rId63" Target="notesSlides/notesSlide8.xml" Type="http://schemas.openxmlformats.org/officeDocument/2006/relationships/notesSlide"/><Relationship Id="rId64" Target="notesSlides/notesSlide9.xml" Type="http://schemas.openxmlformats.org/officeDocument/2006/relationships/notesSlide"/><Relationship Id="rId65" Target="notesSlides/notesSlide10.xml" Type="http://schemas.openxmlformats.org/officeDocument/2006/relationships/notesSlide"/><Relationship Id="rId66" Target="notesSlides/notesSlide11.xml" Type="http://schemas.openxmlformats.org/officeDocument/2006/relationships/notesSlide"/><Relationship Id="rId67" Target="notesSlides/notesSlide12.xml" Type="http://schemas.openxmlformats.org/officeDocument/2006/relationships/notesSlide"/><Relationship Id="rId68" Target="notesSlides/notesSlide13.xml" Type="http://schemas.openxmlformats.org/officeDocument/2006/relationships/notesSlide"/><Relationship Id="rId69" Target="notesSlides/notesSlide14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5.xml" Type="http://schemas.openxmlformats.org/officeDocument/2006/relationships/notesSlide"/><Relationship Id="rId71" Target="notesSlides/notesSlide16.xml" Type="http://schemas.openxmlformats.org/officeDocument/2006/relationships/notesSlide"/><Relationship Id="rId72" Target="notesSlides/notesSlide17.xml" Type="http://schemas.openxmlformats.org/officeDocument/2006/relationships/notesSlide"/><Relationship Id="rId73" Target="notesSlides/notesSlide18.xml" Type="http://schemas.openxmlformats.org/officeDocument/2006/relationships/notesSlide"/><Relationship Id="rId74" Target="notesSlides/notesSlide19.xml" Type="http://schemas.openxmlformats.org/officeDocument/2006/relationships/notesSlide"/><Relationship Id="rId75" Target="notesSlides/notesSlide20.xml" Type="http://schemas.openxmlformats.org/officeDocument/2006/relationships/notesSlide"/><Relationship Id="rId76" Target="notesSlides/notesSlide21.xml" Type="http://schemas.openxmlformats.org/officeDocument/2006/relationships/notesSlide"/><Relationship Id="rId77" Target="notesSlides/notesSlide22.xml" Type="http://schemas.openxmlformats.org/officeDocument/2006/relationships/notesSlide"/><Relationship Id="rId78" Target="notesSlides/notesSlide23.xml" Type="http://schemas.openxmlformats.org/officeDocument/2006/relationships/notesSlide"/><Relationship Id="rId79" Target="notesSlides/notesSlide24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5.xml" Type="http://schemas.openxmlformats.org/officeDocument/2006/relationships/notesSlide"/><Relationship Id="rId81" Target="notesSlides/notesSlide26.xml" Type="http://schemas.openxmlformats.org/officeDocument/2006/relationships/notesSlide"/><Relationship Id="rId82" Target="notesSlides/notesSlide27.xml" Type="http://schemas.openxmlformats.org/officeDocument/2006/relationships/notesSlide"/><Relationship Id="rId83" Target="notesSlides/notesSlide28.xml" Type="http://schemas.openxmlformats.org/officeDocument/2006/relationships/notesSlide"/><Relationship Id="rId84" Target="notesSlides/notesSlide29.xml" Type="http://schemas.openxmlformats.org/officeDocument/2006/relationships/notesSlide"/><Relationship Id="rId85" Target="notesSlides/notesSlide30.xml" Type="http://schemas.openxmlformats.org/officeDocument/2006/relationships/notesSlide"/><Relationship Id="rId86" Target="notesSlides/notesSlide31.xml" Type="http://schemas.openxmlformats.org/officeDocument/2006/relationships/notesSlide"/><Relationship Id="rId87" Target="notesSlides/notesSlide32.xml" Type="http://schemas.openxmlformats.org/officeDocument/2006/relationships/notesSlide"/><Relationship Id="rId88" Target="notesSlides/notesSlide33.xml" Type="http://schemas.openxmlformats.org/officeDocument/2006/relationships/notesSlide"/><Relationship Id="rId89" Target="notesSlides/notesSlide34.xml" Type="http://schemas.openxmlformats.org/officeDocument/2006/relationships/notesSlide"/><Relationship Id="rId9" Target="slides/slide4.xml" Type="http://schemas.openxmlformats.org/officeDocument/2006/relationships/slide"/><Relationship Id="rId90" Target="notesSlides/notesSlide35.xml" Type="http://schemas.openxmlformats.org/officeDocument/2006/relationships/notesSlide"/><Relationship Id="rId91" Target="notesSlides/notesSlide36.xml" Type="http://schemas.openxmlformats.org/officeDocument/2006/relationships/notesSlide"/><Relationship Id="rId92" Target="notesSlides/notesSlide37.xml" Type="http://schemas.openxmlformats.org/officeDocument/2006/relationships/notesSlide"/><Relationship Id="rId93" Target="notesSlides/notesSlide38.xml" Type="http://schemas.openxmlformats.org/officeDocument/2006/relationships/notesSlide"/><Relationship Id="rId94" Target="notesSlides/notesSlide39.xml" Type="http://schemas.openxmlformats.org/officeDocument/2006/relationships/notesSlide"/><Relationship Id="rId95" Target="notesSlides/notesSlide40.xml" Type="http://schemas.openxmlformats.org/officeDocument/2006/relationships/notesSlide"/><Relationship Id="rId96" Target="notesSlides/notesSlide4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https://www.linkedin.com/in/alaa-essam-76a692292/" TargetMode="External" Type="http://schemas.openxmlformats.org/officeDocument/2006/relationships/hyperlink"/><Relationship Id="rId8" Target="https://www.linkedin.com/in/ahmed-hossam-333277149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Relationship Id="rId3" Target="../media/image28.jpeg" Type="http://schemas.openxmlformats.org/officeDocument/2006/relationships/image"/><Relationship Id="rId4" Target="../media/VAG56JQ7Ls8.mp4" Type="http://schemas.openxmlformats.org/officeDocument/2006/relationships/video"/><Relationship Id="rId5" Target="../media/VAG56JQ7Ls8.mp4" Type="http://schemas.microsoft.com/office/2007/relationships/media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2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Relationship Id="rId3" Target="../media/image32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4643132" y="370513"/>
            <a:ext cx="2952967" cy="786137"/>
            <a:chOff x="0" y="0"/>
            <a:chExt cx="3937289" cy="1048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7254" cy="1048131"/>
            </a:xfrm>
            <a:custGeom>
              <a:avLst/>
              <a:gdLst/>
              <a:ahLst/>
              <a:cxnLst/>
              <a:rect r="r" b="b" t="t" l="l"/>
              <a:pathLst>
                <a:path h="1048131" w="3937254">
                  <a:moveTo>
                    <a:pt x="0" y="0"/>
                  </a:moveTo>
                  <a:lnTo>
                    <a:pt x="3937254" y="0"/>
                  </a:lnTo>
                  <a:lnTo>
                    <a:pt x="3937254" y="1048131"/>
                  </a:lnTo>
                  <a:lnTo>
                    <a:pt x="0" y="1048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31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5806" y="605937"/>
            <a:ext cx="2513353" cy="315288"/>
          </a:xfrm>
          <a:custGeom>
            <a:avLst/>
            <a:gdLst/>
            <a:ahLst/>
            <a:cxnLst/>
            <a:rect r="r" b="b" t="t" l="l"/>
            <a:pathLst>
              <a:path h="315288" w="2513353">
                <a:moveTo>
                  <a:pt x="0" y="0"/>
                </a:moveTo>
                <a:lnTo>
                  <a:pt x="2513353" y="0"/>
                </a:lnTo>
                <a:lnTo>
                  <a:pt x="2513353" y="315288"/>
                </a:lnTo>
                <a:lnTo>
                  <a:pt x="0" y="31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15733" y="3209925"/>
            <a:ext cx="13102949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9"/>
              </a:lnSpc>
            </a:pPr>
            <a:r>
              <a:rPr lang="en-US" sz="58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Predicting Weekly Sales using Machine Learning &amp; Time Series Analysis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15733" y="5847366"/>
            <a:ext cx="9067500" cy="780045"/>
            <a:chOff x="0" y="0"/>
            <a:chExt cx="12090000" cy="10400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0000" cy="1040060"/>
            </a:xfrm>
            <a:custGeom>
              <a:avLst/>
              <a:gdLst/>
              <a:ahLst/>
              <a:cxnLst/>
              <a:rect r="r" b="b" t="t" l="l"/>
              <a:pathLst>
                <a:path h="1040060" w="12090000">
                  <a:moveTo>
                    <a:pt x="0" y="0"/>
                  </a:moveTo>
                  <a:lnTo>
                    <a:pt x="12090000" y="0"/>
                  </a:lnTo>
                  <a:lnTo>
                    <a:pt x="12090000" y="1040060"/>
                  </a:lnTo>
                  <a:lnTo>
                    <a:pt x="0" y="10400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090000" cy="1059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>
                  <a:solidFill>
                    <a:srgbClr val="00B3E3"/>
                  </a:solidFill>
                  <a:latin typeface="Arial"/>
                  <a:ea typeface="Arial"/>
                  <a:cs typeface="Arial"/>
                  <a:sym typeface="Arial"/>
                </a:rPr>
                <a:t>SIC – AI702 – Team 5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275316" y="6124392"/>
            <a:ext cx="9012684" cy="4162608"/>
          </a:xfrm>
          <a:custGeom>
            <a:avLst/>
            <a:gdLst/>
            <a:ahLst/>
            <a:cxnLst/>
            <a:rect r="r" b="b" t="t" l="l"/>
            <a:pathLst>
              <a:path h="4162608" w="9012684">
                <a:moveTo>
                  <a:pt x="0" y="0"/>
                </a:moveTo>
                <a:lnTo>
                  <a:pt x="9012684" y="0"/>
                </a:lnTo>
                <a:lnTo>
                  <a:pt x="9012684" y="4162608"/>
                </a:lnTo>
                <a:lnTo>
                  <a:pt x="0" y="4162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9560" r="0" b="-2469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76858" y="5232488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Modeling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8358254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57808" y="7669431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6112348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Feature Engineering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09914"/>
            <a:chOff x="0" y="0"/>
            <a:chExt cx="24384000" cy="2279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279898"/>
            </a:xfrm>
            <a:custGeom>
              <a:avLst/>
              <a:gdLst/>
              <a:ahLst/>
              <a:cxnLst/>
              <a:rect r="r" b="b" t="t" l="l"/>
              <a:pathLst>
                <a:path h="227989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79898"/>
                  </a:lnTo>
                  <a:lnTo>
                    <a:pt x="0" y="2279898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762823" y="2346683"/>
            <a:ext cx="4171506" cy="5282320"/>
            <a:chOff x="0" y="0"/>
            <a:chExt cx="5562008" cy="70430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1965" cy="7043039"/>
            </a:xfrm>
            <a:custGeom>
              <a:avLst/>
              <a:gdLst/>
              <a:ahLst/>
              <a:cxnLst/>
              <a:rect r="r" b="b" t="t" l="l"/>
              <a:pathLst>
                <a:path h="7043039" w="5561965">
                  <a:moveTo>
                    <a:pt x="0" y="0"/>
                  </a:moveTo>
                  <a:lnTo>
                    <a:pt x="5561965" y="0"/>
                  </a:lnTo>
                  <a:lnTo>
                    <a:pt x="5561965" y="7043039"/>
                  </a:lnTo>
                  <a:lnTo>
                    <a:pt x="0" y="7043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28" r="0" b="-2429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408592" y="2346683"/>
            <a:ext cx="4348250" cy="5282320"/>
            <a:chOff x="0" y="0"/>
            <a:chExt cx="5797667" cy="70430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97677" cy="7043039"/>
            </a:xfrm>
            <a:custGeom>
              <a:avLst/>
              <a:gdLst/>
              <a:ahLst/>
              <a:cxnLst/>
              <a:rect r="r" b="b" t="t" l="l"/>
              <a:pathLst>
                <a:path h="7043039" w="5797677">
                  <a:moveTo>
                    <a:pt x="0" y="0"/>
                  </a:moveTo>
                  <a:lnTo>
                    <a:pt x="5797677" y="0"/>
                  </a:lnTo>
                  <a:lnTo>
                    <a:pt x="5797677" y="7043039"/>
                  </a:lnTo>
                  <a:lnTo>
                    <a:pt x="0" y="7043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171" r="0" b="-23171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958024" y="2346683"/>
            <a:ext cx="4171506" cy="5326934"/>
            <a:chOff x="0" y="0"/>
            <a:chExt cx="5562008" cy="7102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61965" cy="7102602"/>
            </a:xfrm>
            <a:custGeom>
              <a:avLst/>
              <a:gdLst/>
              <a:ahLst/>
              <a:cxnLst/>
              <a:rect r="r" b="b" t="t" l="l"/>
              <a:pathLst>
                <a:path h="7102602" w="5561965">
                  <a:moveTo>
                    <a:pt x="0" y="0"/>
                  </a:moveTo>
                  <a:lnTo>
                    <a:pt x="5561965" y="0"/>
                  </a:lnTo>
                  <a:lnTo>
                    <a:pt x="5561965" y="7102602"/>
                  </a:lnTo>
                  <a:lnTo>
                    <a:pt x="0" y="7102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849" t="0" r="-13849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762823" y="7980111"/>
            <a:ext cx="805482" cy="686857"/>
          </a:xfrm>
          <a:custGeom>
            <a:avLst/>
            <a:gdLst/>
            <a:ahLst/>
            <a:cxnLst/>
            <a:rect r="r" b="b" t="t" l="l"/>
            <a:pathLst>
              <a:path h="686857" w="805482">
                <a:moveTo>
                  <a:pt x="0" y="0"/>
                </a:moveTo>
                <a:lnTo>
                  <a:pt x="805482" y="0"/>
                </a:lnTo>
                <a:lnTo>
                  <a:pt x="805482" y="686856"/>
                </a:lnTo>
                <a:lnTo>
                  <a:pt x="0" y="686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08592" y="7980111"/>
            <a:ext cx="805482" cy="686857"/>
          </a:xfrm>
          <a:custGeom>
            <a:avLst/>
            <a:gdLst/>
            <a:ahLst/>
            <a:cxnLst/>
            <a:rect r="r" b="b" t="t" l="l"/>
            <a:pathLst>
              <a:path h="686857" w="805482">
                <a:moveTo>
                  <a:pt x="0" y="0"/>
                </a:moveTo>
                <a:lnTo>
                  <a:pt x="805483" y="0"/>
                </a:lnTo>
                <a:lnTo>
                  <a:pt x="805483" y="686856"/>
                </a:lnTo>
                <a:lnTo>
                  <a:pt x="0" y="686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58024" y="7980111"/>
            <a:ext cx="805482" cy="686857"/>
          </a:xfrm>
          <a:custGeom>
            <a:avLst/>
            <a:gdLst/>
            <a:ahLst/>
            <a:cxnLst/>
            <a:rect r="r" b="b" t="t" l="l"/>
            <a:pathLst>
              <a:path h="686857" w="805482">
                <a:moveTo>
                  <a:pt x="0" y="0"/>
                </a:moveTo>
                <a:lnTo>
                  <a:pt x="805482" y="0"/>
                </a:lnTo>
                <a:lnTo>
                  <a:pt x="805482" y="686856"/>
                </a:lnTo>
                <a:lnTo>
                  <a:pt x="0" y="6868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43693" y="8102956"/>
            <a:ext cx="2566273" cy="5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b="true" sz="3598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www.linkedin.com/in/alaa-essam-76a692292/"/>
              </a:rPr>
              <a:t>Alaa Essam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7441" y="288219"/>
            <a:ext cx="631305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</a:pPr>
            <a:r>
              <a:rPr lang="en-US" sz="7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625057" y="8245831"/>
            <a:ext cx="3691393" cy="26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3600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www.linkedin.com/in/ahmed-hossam-333277149"/>
              </a:rPr>
              <a:t>Ahmed Hossam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927367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3109152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2171194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2326821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5232488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Modeling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8407897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7659906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6112348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Feature Engineering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2684" y="4082055"/>
            <a:ext cx="6256377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566219"/>
            <a:chOff x="0" y="0"/>
            <a:chExt cx="24384000" cy="2088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88305"/>
            </a:xfrm>
            <a:custGeom>
              <a:avLst/>
              <a:gdLst/>
              <a:ahLst/>
              <a:cxnLst/>
              <a:rect r="r" b="b" t="t" l="l"/>
              <a:pathLst>
                <a:path h="208830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88305"/>
                  </a:lnTo>
                  <a:lnTo>
                    <a:pt x="0" y="2088305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754380" y="1730113"/>
            <a:ext cx="16936005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the retail world, even a small forecasting error can lead to empty shelves, wasted inventory, and millions in lost revenue. Walmart faces this challenge every week across hundreds of stores and departments.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project focuses on solving one essential question: 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AI predict weekly sales accurately enough to prevent these losses?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problem matters because accurate forecasting improves inventory planning, reduces operational waste, enhances customer satisfaction, and directly increases profit. Our goal is to build a reliable, data-driven forecasting system that helps Walmart make smarter decisions before problems occur.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441" y="442269"/>
            <a:ext cx="419278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05310" y="7202451"/>
            <a:ext cx="8909373" cy="2956202"/>
          </a:xfrm>
          <a:custGeom>
            <a:avLst/>
            <a:gdLst/>
            <a:ahLst/>
            <a:cxnLst/>
            <a:rect r="r" b="b" t="t" l="l"/>
            <a:pathLst>
              <a:path h="2956202" w="8909373">
                <a:moveTo>
                  <a:pt x="0" y="0"/>
                </a:moveTo>
                <a:lnTo>
                  <a:pt x="8909373" y="0"/>
                </a:lnTo>
                <a:lnTo>
                  <a:pt x="8909373" y="2956202"/>
                </a:lnTo>
                <a:lnTo>
                  <a:pt x="0" y="2956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459" r="0" b="-5045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Mod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8396354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7629187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6112348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eature Engineering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82732" y="5276561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261247" y="4282080"/>
            <a:ext cx="5591175" cy="5591175"/>
          </a:xfrm>
          <a:custGeom>
            <a:avLst/>
            <a:gdLst/>
            <a:ahLst/>
            <a:cxnLst/>
            <a:rect r="r" b="b" t="t" l="l"/>
            <a:pathLst>
              <a:path h="5591175" w="5591175">
                <a:moveTo>
                  <a:pt x="0" y="0"/>
                </a:moveTo>
                <a:lnTo>
                  <a:pt x="5591175" y="0"/>
                </a:lnTo>
                <a:lnTo>
                  <a:pt x="5591175" y="5591175"/>
                </a:lnTo>
                <a:lnTo>
                  <a:pt x="0" y="55911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2684" y="4082055"/>
            <a:ext cx="858154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roject Overview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3471"/>
            <a:chOff x="0" y="0"/>
            <a:chExt cx="24384000" cy="237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77974"/>
            </a:xfrm>
            <a:custGeom>
              <a:avLst/>
              <a:gdLst/>
              <a:ahLst/>
              <a:cxnLst/>
              <a:rect r="r" b="b" t="t" l="l"/>
              <a:pathLst>
                <a:path h="237797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77974"/>
                  </a:lnTo>
                  <a:lnTo>
                    <a:pt x="0" y="237797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3440" y="519225"/>
            <a:ext cx="521731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440" y="1938752"/>
            <a:ext cx="16504920" cy="736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project aims to build an intelligent sales forecasting system for Walmart using traditional Machine Learning and advanced Deep Learning models.</a:t>
            </a:r>
          </a:p>
          <a:p>
            <a:pPr algn="l">
              <a:lnSpc>
                <a:spcPts val="3839"/>
              </a:lnSpc>
            </a:pP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main objective is to predict weekly sales for every store and department, helping Walmart plan inventory, optimize staffing, reduce operational waste, and avoid stockouts before they occur.</a:t>
            </a:r>
          </a:p>
          <a:p>
            <a:pPr algn="l">
              <a:lnSpc>
                <a:spcPts val="3839"/>
              </a:lnSpc>
            </a:pP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achieve this, we integrated multiple real-world datasets—sales history, store attributes, economic indicators, weather conditions, holidays, and markdown events—to capture all factors influencing demand.</a:t>
            </a:r>
          </a:p>
          <a:p>
            <a:pPr algn="l">
              <a:lnSpc>
                <a:spcPts val="3839"/>
              </a:lnSpc>
            </a:pP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evaluates several models to identify which approach delivers the highest accuracy and real business value, ultimately supporting data-driven decision-making across the retail chain.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Info &amp; Description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Mod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8454990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7669431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6112348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eature Engineering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82732" y="5276561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022EAA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93616" y="4282080"/>
            <a:ext cx="5936203" cy="5579200"/>
          </a:xfrm>
          <a:custGeom>
            <a:avLst/>
            <a:gdLst/>
            <a:ahLst/>
            <a:cxnLst/>
            <a:rect r="r" b="b" t="t" l="l"/>
            <a:pathLst>
              <a:path h="5579200" w="5936203">
                <a:moveTo>
                  <a:pt x="0" y="0"/>
                </a:moveTo>
                <a:lnTo>
                  <a:pt x="5936203" y="0"/>
                </a:lnTo>
                <a:lnTo>
                  <a:pt x="5936203" y="5579200"/>
                </a:lnTo>
                <a:lnTo>
                  <a:pt x="0" y="5579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2684" y="4082055"/>
            <a:ext cx="1324106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Datas</a:t>
            </a: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et Info &amp; Description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57325"/>
            <a:chOff x="0" y="0"/>
            <a:chExt cx="24384000" cy="1943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43113"/>
            </a:xfrm>
            <a:custGeom>
              <a:avLst/>
              <a:gdLst/>
              <a:ahLst/>
              <a:cxnLst/>
              <a:rect r="r" b="b" t="t" l="l"/>
              <a:pathLst>
                <a:path h="194311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43113"/>
                  </a:lnTo>
                  <a:lnTo>
                    <a:pt x="0" y="194311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66370" y="1504049"/>
            <a:ext cx="8029008" cy="8029008"/>
          </a:xfrm>
          <a:custGeom>
            <a:avLst/>
            <a:gdLst/>
            <a:ahLst/>
            <a:cxnLst/>
            <a:rect r="r" b="b" t="t" l="l"/>
            <a:pathLst>
              <a:path h="8029008" w="8029008">
                <a:moveTo>
                  <a:pt x="0" y="0"/>
                </a:moveTo>
                <a:lnTo>
                  <a:pt x="8029008" y="0"/>
                </a:lnTo>
                <a:lnTo>
                  <a:pt x="8029008" y="8029008"/>
                </a:lnTo>
                <a:lnTo>
                  <a:pt x="0" y="802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30791" y="3387776"/>
            <a:ext cx="9780064" cy="9059516"/>
            <a:chOff x="0" y="0"/>
            <a:chExt cx="13040086" cy="120793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79354" cy="12079354"/>
            </a:xfrm>
            <a:custGeom>
              <a:avLst/>
              <a:gdLst/>
              <a:ahLst/>
              <a:cxnLst/>
              <a:rect r="r" b="b" t="t" l="l"/>
              <a:pathLst>
                <a:path h="12079354" w="12079354">
                  <a:moveTo>
                    <a:pt x="0" y="0"/>
                  </a:moveTo>
                  <a:lnTo>
                    <a:pt x="12079354" y="0"/>
                  </a:lnTo>
                  <a:lnTo>
                    <a:pt x="12079354" y="12079354"/>
                  </a:lnTo>
                  <a:lnTo>
                    <a:pt x="0" y="12079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681564" y="556025"/>
              <a:ext cx="2065325" cy="15804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2"/>
                </a:lnSpc>
              </a:pPr>
              <a:r>
                <a:rPr lang="en-US" sz="376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target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713633" y="613175"/>
              <a:ext cx="7043529" cy="141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Weekly_Sales (per Store × Dept × Week)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9414" y="5137977"/>
              <a:ext cx="2667475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22"/>
                </a:lnSpc>
              </a:pPr>
              <a:r>
                <a:rPr lang="en-US" sz="376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084515" y="5060243"/>
              <a:ext cx="9955571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Temperature, Fuel_Price, CPI, Unemployment, MarkDown1–5, IsHoliday, Store Type/Size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440" y="423975"/>
            <a:ext cx="701163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Datas</a:t>
            </a: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et Info &amp; Description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0326" y="2023878"/>
            <a:ext cx="1548994" cy="6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76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84767" y="2121240"/>
            <a:ext cx="438030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Walmart Retail Sales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9640" y="4837718"/>
            <a:ext cx="1548994" cy="120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76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Files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4053" y="4766078"/>
            <a:ext cx="5250337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train.csv, features.csv, stores.csv merged into a single corpus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7740" y="8135728"/>
            <a:ext cx="1548994" cy="6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768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Size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71310" y="7841334"/>
            <a:ext cx="5250337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~421,000 rows after merge (weekly records across stores &amp; departments)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3471"/>
            <a:chOff x="0" y="0"/>
            <a:chExt cx="24384000" cy="237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77974"/>
            </a:xfrm>
            <a:custGeom>
              <a:avLst/>
              <a:gdLst/>
              <a:ahLst/>
              <a:cxnLst/>
              <a:rect r="r" b="b" t="t" l="l"/>
              <a:pathLst>
                <a:path h="237797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77974"/>
                  </a:lnTo>
                  <a:lnTo>
                    <a:pt x="0" y="237797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566254" y="1923677"/>
            <a:ext cx="1650492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uses the Walmart Retail Sales Dataset, one of t</a:t>
            </a: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 richest publicly available retail forecasting datasets.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combines store-level performance, economic conditions, and seasonal effects, enabling models to extract deep insights about demand behavior.</a:t>
            </a:r>
          </a:p>
          <a:p>
            <a:pPr algn="l" marL="755647" indent="-377824" lvl="1">
              <a:lnSpc>
                <a:spcPts val="41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Sources Included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57441" y="9814089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440" y="519225"/>
            <a:ext cx="1119092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Datas</a:t>
            </a: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et info &amp; Description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95424" y="4568559"/>
            <a:ext cx="14697154" cy="5264580"/>
            <a:chOff x="0" y="0"/>
            <a:chExt cx="19596206" cy="701944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2388692" y="525373"/>
              <a:ext cx="17207514" cy="1553249"/>
              <a:chOff x="0" y="0"/>
              <a:chExt cx="3399015" cy="30681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399015" cy="306815"/>
              </a:xfrm>
              <a:custGeom>
                <a:avLst/>
                <a:gdLst/>
                <a:ahLst/>
                <a:cxnLst/>
                <a:rect r="r" b="b" t="t" l="l"/>
                <a:pathLst>
                  <a:path h="306815" w="3399015">
                    <a:moveTo>
                      <a:pt x="3195815" y="0"/>
                    </a:moveTo>
                    <a:cubicBezTo>
                      <a:pt x="3308040" y="0"/>
                      <a:pt x="3399015" y="68683"/>
                      <a:pt x="3399015" y="153407"/>
                    </a:cubicBezTo>
                    <a:cubicBezTo>
                      <a:pt x="3399015" y="238132"/>
                      <a:pt x="3308040" y="306815"/>
                      <a:pt x="3195815" y="306815"/>
                    </a:cubicBezTo>
                    <a:lnTo>
                      <a:pt x="203200" y="306815"/>
                    </a:lnTo>
                    <a:cubicBezTo>
                      <a:pt x="90976" y="306815"/>
                      <a:pt x="0" y="238132"/>
                      <a:pt x="0" y="153407"/>
                    </a:cubicBezTo>
                    <a:cubicBezTo>
                      <a:pt x="0" y="6868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EB4F8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3399015" cy="3258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388692" y="2805788"/>
              <a:ext cx="17207514" cy="1553249"/>
              <a:chOff x="0" y="0"/>
              <a:chExt cx="3399015" cy="30681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399015" cy="306815"/>
              </a:xfrm>
              <a:custGeom>
                <a:avLst/>
                <a:gdLst/>
                <a:ahLst/>
                <a:cxnLst/>
                <a:rect r="r" b="b" t="t" l="l"/>
                <a:pathLst>
                  <a:path h="306815" w="3399015">
                    <a:moveTo>
                      <a:pt x="3195815" y="0"/>
                    </a:moveTo>
                    <a:cubicBezTo>
                      <a:pt x="3308040" y="0"/>
                      <a:pt x="3399015" y="68683"/>
                      <a:pt x="3399015" y="153407"/>
                    </a:cubicBezTo>
                    <a:cubicBezTo>
                      <a:pt x="3399015" y="238132"/>
                      <a:pt x="3308040" y="306815"/>
                      <a:pt x="3195815" y="306815"/>
                    </a:cubicBezTo>
                    <a:lnTo>
                      <a:pt x="203200" y="306815"/>
                    </a:lnTo>
                    <a:cubicBezTo>
                      <a:pt x="90976" y="306815"/>
                      <a:pt x="0" y="238132"/>
                      <a:pt x="0" y="153407"/>
                    </a:cubicBezTo>
                    <a:cubicBezTo>
                      <a:pt x="0" y="6868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A66C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3399015" cy="3258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88692" y="4888367"/>
              <a:ext cx="17207514" cy="1553249"/>
              <a:chOff x="0" y="0"/>
              <a:chExt cx="3399015" cy="30681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399015" cy="306815"/>
              </a:xfrm>
              <a:custGeom>
                <a:avLst/>
                <a:gdLst/>
                <a:ahLst/>
                <a:cxnLst/>
                <a:rect r="r" b="b" t="t" l="l"/>
                <a:pathLst>
                  <a:path h="306815" w="3399015">
                    <a:moveTo>
                      <a:pt x="3195815" y="0"/>
                    </a:moveTo>
                    <a:cubicBezTo>
                      <a:pt x="3308040" y="0"/>
                      <a:pt x="3399015" y="68683"/>
                      <a:pt x="3399015" y="153407"/>
                    </a:cubicBezTo>
                    <a:cubicBezTo>
                      <a:pt x="3399015" y="238132"/>
                      <a:pt x="3308040" y="306815"/>
                      <a:pt x="3195815" y="306815"/>
                    </a:cubicBezTo>
                    <a:lnTo>
                      <a:pt x="203200" y="306815"/>
                    </a:lnTo>
                    <a:cubicBezTo>
                      <a:pt x="90976" y="306815"/>
                      <a:pt x="0" y="238132"/>
                      <a:pt x="0" y="153407"/>
                    </a:cubicBezTo>
                    <a:cubicBezTo>
                      <a:pt x="0" y="6868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3399015" cy="3258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01153" y="5863792"/>
              <a:ext cx="1173175" cy="1155649"/>
              <a:chOff x="0" y="0"/>
              <a:chExt cx="927558" cy="91370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27558" cy="913701"/>
              </a:xfrm>
              <a:custGeom>
                <a:avLst/>
                <a:gdLst/>
                <a:ahLst/>
                <a:cxnLst/>
                <a:rect r="r" b="b" t="t" l="l"/>
                <a:pathLst>
                  <a:path h="913701" w="927558">
                    <a:moveTo>
                      <a:pt x="463779" y="0"/>
                    </a:moveTo>
                    <a:cubicBezTo>
                      <a:pt x="207641" y="0"/>
                      <a:pt x="0" y="204539"/>
                      <a:pt x="0" y="456851"/>
                    </a:cubicBezTo>
                    <a:cubicBezTo>
                      <a:pt x="0" y="709162"/>
                      <a:pt x="207641" y="913701"/>
                      <a:pt x="463779" y="913701"/>
                    </a:cubicBezTo>
                    <a:cubicBezTo>
                      <a:pt x="719917" y="913701"/>
                      <a:pt x="927558" y="709162"/>
                      <a:pt x="927558" y="456851"/>
                    </a:cubicBezTo>
                    <a:cubicBezTo>
                      <a:pt x="927558" y="204539"/>
                      <a:pt x="719917" y="0"/>
                      <a:pt x="4637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86959" y="66610"/>
                <a:ext cx="753641" cy="761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802104" y="3734163"/>
              <a:ext cx="1173175" cy="1154204"/>
              <a:chOff x="0" y="0"/>
              <a:chExt cx="82616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2616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26160">
                    <a:moveTo>
                      <a:pt x="413080" y="0"/>
                    </a:moveTo>
                    <a:cubicBezTo>
                      <a:pt x="184942" y="0"/>
                      <a:pt x="0" y="181951"/>
                      <a:pt x="0" y="406400"/>
                    </a:cubicBezTo>
                    <a:cubicBezTo>
                      <a:pt x="0" y="630849"/>
                      <a:pt x="184942" y="812800"/>
                      <a:pt x="413080" y="812800"/>
                    </a:cubicBezTo>
                    <a:cubicBezTo>
                      <a:pt x="641217" y="812800"/>
                      <a:pt x="826160" y="630849"/>
                      <a:pt x="826160" y="406400"/>
                    </a:cubicBezTo>
                    <a:cubicBezTo>
                      <a:pt x="826160" y="181951"/>
                      <a:pt x="641217" y="0"/>
                      <a:pt x="41308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7452" y="57150"/>
                <a:ext cx="671255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801153" y="1489689"/>
              <a:ext cx="1173175" cy="1121707"/>
              <a:chOff x="0" y="0"/>
              <a:chExt cx="850095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009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0095">
                    <a:moveTo>
                      <a:pt x="425047" y="0"/>
                    </a:moveTo>
                    <a:cubicBezTo>
                      <a:pt x="190300" y="0"/>
                      <a:pt x="0" y="181951"/>
                      <a:pt x="0" y="406400"/>
                    </a:cubicBezTo>
                    <a:cubicBezTo>
                      <a:pt x="0" y="630849"/>
                      <a:pt x="190300" y="812800"/>
                      <a:pt x="425047" y="812800"/>
                    </a:cubicBezTo>
                    <a:cubicBezTo>
                      <a:pt x="659794" y="812800"/>
                      <a:pt x="850095" y="630849"/>
                      <a:pt x="850095" y="406400"/>
                    </a:cubicBezTo>
                    <a:cubicBezTo>
                      <a:pt x="850095" y="181951"/>
                      <a:pt x="659794" y="0"/>
                      <a:pt x="42504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9696" y="57150"/>
                <a:ext cx="690702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2155971" cy="2155971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2232171"/>
              <a:ext cx="2155971" cy="2155971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4485700"/>
              <a:ext cx="2155971" cy="2155971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90954" y="393070"/>
              <a:ext cx="1618377" cy="133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3"/>
                </a:lnSpc>
                <a:spcBef>
                  <a:spcPct val="0"/>
                </a:spcBef>
              </a:pPr>
              <a:r>
                <a:rPr lang="en-US" b="true" sz="331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train.csv 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878323" y="963740"/>
              <a:ext cx="12409012" cy="615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9"/>
                </a:lnSpc>
                <a:spcBef>
                  <a:spcPct val="0"/>
                </a:spcBef>
              </a:pPr>
              <a:r>
                <a:rPr lang="en-US" sz="294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Historical weekly sales for each Store–Department pair.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45477" y="2736960"/>
              <a:ext cx="1909331" cy="1136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3"/>
                </a:lnSpc>
                <a:spcBef>
                  <a:spcPct val="0"/>
                </a:spcBef>
              </a:pPr>
              <a:r>
                <a:rPr lang="en-US" b="true" sz="281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</a:t>
              </a:r>
              <a:r>
                <a:rPr lang="en-US" b="true" sz="281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tures.csv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878323" y="3068765"/>
              <a:ext cx="16640247" cy="1025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sz="25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External influencing factors such as Temperature, Fuel Price, MarkDown1–5, CPI, and Unemployment.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45477" y="4883260"/>
              <a:ext cx="1763854" cy="1301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0"/>
                </a:lnSpc>
                <a:spcBef>
                  <a:spcPct val="0"/>
                </a:spcBef>
              </a:pPr>
              <a:r>
                <a:rPr lang="en-US" b="true" sz="3225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  <a:r>
                <a:rPr lang="en-US" b="true" sz="3225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tores.csv 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254457" y="5388392"/>
              <a:ext cx="7324090" cy="565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99"/>
                </a:lnSpc>
                <a:spcBef>
                  <a:spcPct val="0"/>
                </a:spcBef>
              </a:pPr>
              <a:r>
                <a:rPr lang="en-US" sz="27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Store metadata (store type &amp; size).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287298"/>
            <a:chOff x="0" y="0"/>
            <a:chExt cx="24384000" cy="17163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16410"/>
            </a:xfrm>
            <a:custGeom>
              <a:avLst/>
              <a:gdLst/>
              <a:ahLst/>
              <a:cxnLst/>
              <a:rect r="r" b="b" t="t" l="l"/>
              <a:pathLst>
                <a:path h="171641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16410"/>
                  </a:lnTo>
                  <a:lnTo>
                    <a:pt x="0" y="1716410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36266" y="8605090"/>
            <a:ext cx="549306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27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Store metadata (store type &amp; size).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" y="1544698"/>
            <a:ext cx="16601447" cy="3941960"/>
            <a:chOff x="0" y="0"/>
            <a:chExt cx="22135263" cy="525594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511903" y="0"/>
              <a:ext cx="17439366" cy="1304319"/>
              <a:chOff x="0" y="0"/>
              <a:chExt cx="3816469" cy="2854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816469" cy="285440"/>
              </a:xfrm>
              <a:custGeom>
                <a:avLst/>
                <a:gdLst/>
                <a:ahLst/>
                <a:cxnLst/>
                <a:rect r="r" b="b" t="t" l="l"/>
                <a:pathLst>
                  <a:path h="285440" w="3816469">
                    <a:moveTo>
                      <a:pt x="3613269" y="0"/>
                    </a:moveTo>
                    <a:cubicBezTo>
                      <a:pt x="3725493" y="0"/>
                      <a:pt x="3816469" y="63898"/>
                      <a:pt x="3816469" y="142720"/>
                    </a:cubicBezTo>
                    <a:cubicBezTo>
                      <a:pt x="3816469" y="221542"/>
                      <a:pt x="3725493" y="285440"/>
                      <a:pt x="3613269" y="285440"/>
                    </a:cubicBezTo>
                    <a:lnTo>
                      <a:pt x="203200" y="285440"/>
                    </a:lnTo>
                    <a:cubicBezTo>
                      <a:pt x="90976" y="285440"/>
                      <a:pt x="0" y="221542"/>
                      <a:pt x="0" y="142720"/>
                    </a:cubicBezTo>
                    <a:cubicBezTo>
                      <a:pt x="0" y="6389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EB4F8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9050"/>
                <a:ext cx="3816469" cy="304490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4019"/>
                  </a:lnSpc>
                </a:pPr>
                <a:r>
                  <a:rPr lang="en-US" sz="334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420,000+ rows after merging all sources.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712180" y="1814869"/>
              <a:ext cx="18423083" cy="1602605"/>
              <a:chOff x="0" y="0"/>
              <a:chExt cx="3620952" cy="31498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20951" cy="314983"/>
              </a:xfrm>
              <a:custGeom>
                <a:avLst/>
                <a:gdLst/>
                <a:ahLst/>
                <a:cxnLst/>
                <a:rect r="r" b="b" t="t" l="l"/>
                <a:pathLst>
                  <a:path h="314983" w="3620951">
                    <a:moveTo>
                      <a:pt x="3417751" y="0"/>
                    </a:moveTo>
                    <a:cubicBezTo>
                      <a:pt x="3529976" y="0"/>
                      <a:pt x="3620951" y="70511"/>
                      <a:pt x="3620951" y="157491"/>
                    </a:cubicBezTo>
                    <a:cubicBezTo>
                      <a:pt x="3620951" y="244472"/>
                      <a:pt x="3529976" y="314983"/>
                      <a:pt x="3417751" y="314983"/>
                    </a:cubicBezTo>
                    <a:lnTo>
                      <a:pt x="203200" y="314983"/>
                    </a:lnTo>
                    <a:cubicBezTo>
                      <a:pt x="90976" y="314983"/>
                      <a:pt x="0" y="244472"/>
                      <a:pt x="0" y="157491"/>
                    </a:cubicBezTo>
                    <a:cubicBezTo>
                      <a:pt x="0" y="7051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A66C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3620952" cy="334033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3779"/>
                  </a:lnSpc>
                </a:pPr>
                <a:r>
                  <a:rPr lang="en-US" sz="314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Represents multi-dimensional, real-world retail data with strong seasonality and holiday impact.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974662" y="3845553"/>
              <a:ext cx="18060842" cy="1410394"/>
              <a:chOff x="0" y="0"/>
              <a:chExt cx="3549755" cy="27720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49755" cy="277205"/>
              </a:xfrm>
              <a:custGeom>
                <a:avLst/>
                <a:gdLst/>
                <a:ahLst/>
                <a:cxnLst/>
                <a:rect r="r" b="b" t="t" l="l"/>
                <a:pathLst>
                  <a:path h="277205" w="3549755">
                    <a:moveTo>
                      <a:pt x="3346555" y="0"/>
                    </a:moveTo>
                    <a:cubicBezTo>
                      <a:pt x="3458780" y="0"/>
                      <a:pt x="3549755" y="62054"/>
                      <a:pt x="3549755" y="138602"/>
                    </a:cubicBezTo>
                    <a:cubicBezTo>
                      <a:pt x="3549755" y="215151"/>
                      <a:pt x="3458780" y="277205"/>
                      <a:pt x="3346555" y="277205"/>
                    </a:cubicBezTo>
                    <a:lnTo>
                      <a:pt x="203200" y="277205"/>
                    </a:lnTo>
                    <a:cubicBezTo>
                      <a:pt x="90976" y="277205"/>
                      <a:pt x="0" y="215151"/>
                      <a:pt x="0" y="138602"/>
                    </a:cubicBezTo>
                    <a:cubicBezTo>
                      <a:pt x="0" y="6205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3549755" cy="296255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3779"/>
                  </a:lnSpc>
                </a:pPr>
                <a:r>
                  <a:rPr lang="en-US" sz="314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Covers ~3 years of sales behavior across 45 stores and 81 departments.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021250" y="4045074"/>
              <a:ext cx="1202413" cy="1161450"/>
              <a:chOff x="0" y="0"/>
              <a:chExt cx="945927" cy="91370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45927" cy="913701"/>
              </a:xfrm>
              <a:custGeom>
                <a:avLst/>
                <a:gdLst/>
                <a:ahLst/>
                <a:cxnLst/>
                <a:rect r="r" b="b" t="t" l="l"/>
                <a:pathLst>
                  <a:path h="913701" w="945927">
                    <a:moveTo>
                      <a:pt x="472964" y="0"/>
                    </a:moveTo>
                    <a:cubicBezTo>
                      <a:pt x="211753" y="0"/>
                      <a:pt x="0" y="204539"/>
                      <a:pt x="0" y="456851"/>
                    </a:cubicBezTo>
                    <a:cubicBezTo>
                      <a:pt x="0" y="709162"/>
                      <a:pt x="211753" y="913701"/>
                      <a:pt x="472964" y="913701"/>
                    </a:cubicBezTo>
                    <a:cubicBezTo>
                      <a:pt x="734174" y="913701"/>
                      <a:pt x="945927" y="709162"/>
                      <a:pt x="945927" y="456851"/>
                    </a:cubicBezTo>
                    <a:cubicBezTo>
                      <a:pt x="945927" y="204539"/>
                      <a:pt x="734174" y="0"/>
                      <a:pt x="47296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88681" y="66610"/>
                <a:ext cx="768566" cy="761432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915726" y="1814869"/>
              <a:ext cx="1202413" cy="1159998"/>
              <a:chOff x="0" y="0"/>
              <a:chExt cx="84252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4252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2520">
                    <a:moveTo>
                      <a:pt x="421260" y="0"/>
                    </a:moveTo>
                    <a:cubicBezTo>
                      <a:pt x="188605" y="0"/>
                      <a:pt x="0" y="181951"/>
                      <a:pt x="0" y="406400"/>
                    </a:cubicBezTo>
                    <a:cubicBezTo>
                      <a:pt x="0" y="630849"/>
                      <a:pt x="188605" y="812800"/>
                      <a:pt x="421260" y="812800"/>
                    </a:cubicBezTo>
                    <a:cubicBezTo>
                      <a:pt x="653916" y="812800"/>
                      <a:pt x="842520" y="630849"/>
                      <a:pt x="842520" y="406400"/>
                    </a:cubicBezTo>
                    <a:cubicBezTo>
                      <a:pt x="842520" y="181951"/>
                      <a:pt x="653916" y="0"/>
                      <a:pt x="4212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8986" y="57150"/>
                <a:ext cx="684548" cy="679450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850147" y="176982"/>
              <a:ext cx="1202413" cy="1127337"/>
              <a:chOff x="0" y="0"/>
              <a:chExt cx="866929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6692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6929">
                    <a:moveTo>
                      <a:pt x="433465" y="0"/>
                    </a:moveTo>
                    <a:cubicBezTo>
                      <a:pt x="194069" y="0"/>
                      <a:pt x="0" y="181951"/>
                      <a:pt x="0" y="406400"/>
                    </a:cubicBezTo>
                    <a:cubicBezTo>
                      <a:pt x="0" y="630849"/>
                      <a:pt x="194069" y="812800"/>
                      <a:pt x="433465" y="812800"/>
                    </a:cubicBezTo>
                    <a:cubicBezTo>
                      <a:pt x="672861" y="812800"/>
                      <a:pt x="866929" y="630849"/>
                      <a:pt x="866929" y="406400"/>
                    </a:cubicBezTo>
                    <a:cubicBezTo>
                      <a:pt x="866929" y="181951"/>
                      <a:pt x="672861" y="0"/>
                      <a:pt x="43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1275" y="57150"/>
                <a:ext cx="704380" cy="679450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1170642"/>
              <a:ext cx="3262300" cy="3198950"/>
              <a:chOff x="0" y="0"/>
              <a:chExt cx="828896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2889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28896">
                    <a:moveTo>
                      <a:pt x="414448" y="0"/>
                    </a:moveTo>
                    <a:cubicBezTo>
                      <a:pt x="185555" y="0"/>
                      <a:pt x="0" y="181951"/>
                      <a:pt x="0" y="406400"/>
                    </a:cubicBezTo>
                    <a:cubicBezTo>
                      <a:pt x="0" y="630849"/>
                      <a:pt x="185555" y="812800"/>
                      <a:pt x="414448" y="812800"/>
                    </a:cubicBezTo>
                    <a:cubicBezTo>
                      <a:pt x="643341" y="812800"/>
                      <a:pt x="828896" y="630849"/>
                      <a:pt x="828896" y="406400"/>
                    </a:cubicBezTo>
                    <a:cubicBezTo>
                      <a:pt x="828896" y="181951"/>
                      <a:pt x="643341" y="0"/>
                      <a:pt x="4144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7709" y="57150"/>
                <a:ext cx="673478" cy="679450"/>
              </a:xfrm>
              <a:prstGeom prst="rect">
                <a:avLst/>
              </a:prstGeom>
            </p:spPr>
            <p:txBody>
              <a:bodyPr anchor="ctr" rtlCol="false" tIns="51055" lIns="51055" bIns="51055" rIns="51055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654803"/>
              <a:ext cx="3245361" cy="2190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92"/>
                </a:lnSpc>
                <a:spcBef>
                  <a:spcPct val="0"/>
                </a:spcBef>
              </a:pPr>
              <a:r>
                <a:rPr lang="en-US" b="true" sz="357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</a:t>
              </a:r>
              <a:r>
                <a:rPr lang="en-US" b="true" sz="357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 Size &amp; Structure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36747" y="6007673"/>
            <a:ext cx="15851254" cy="3982148"/>
            <a:chOff x="0" y="0"/>
            <a:chExt cx="21135005" cy="530953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3477421" y="0"/>
              <a:ext cx="17352466" cy="1302965"/>
              <a:chOff x="0" y="0"/>
              <a:chExt cx="3427648" cy="25737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427647" cy="257376"/>
              </a:xfrm>
              <a:custGeom>
                <a:avLst/>
                <a:gdLst/>
                <a:ahLst/>
                <a:cxnLst/>
                <a:rect r="r" b="b" t="t" l="l"/>
                <a:pathLst>
                  <a:path h="257376" w="3427647">
                    <a:moveTo>
                      <a:pt x="3224448" y="0"/>
                    </a:moveTo>
                    <a:cubicBezTo>
                      <a:pt x="3336672" y="0"/>
                      <a:pt x="3427647" y="57616"/>
                      <a:pt x="3427647" y="128688"/>
                    </a:cubicBezTo>
                    <a:cubicBezTo>
                      <a:pt x="3427647" y="199760"/>
                      <a:pt x="3336672" y="257376"/>
                      <a:pt x="3224448" y="257376"/>
                    </a:cubicBezTo>
                    <a:lnTo>
                      <a:pt x="203200" y="257376"/>
                    </a:lnTo>
                    <a:cubicBezTo>
                      <a:pt x="90976" y="257376"/>
                      <a:pt x="0" y="199760"/>
                      <a:pt x="0" y="128688"/>
                    </a:cubicBezTo>
                    <a:cubicBezTo>
                      <a:pt x="0" y="5761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EB4F8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3427648" cy="2764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19"/>
                  </a:lnSpc>
                </a:pPr>
                <a:r>
                  <a:rPr lang="en-US" sz="334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High temporal complexity (weekly patterns, holidays, promotions).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429636" y="1810965"/>
              <a:ext cx="16705369" cy="1602095"/>
              <a:chOff x="0" y="0"/>
              <a:chExt cx="3299826" cy="31646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299826" cy="316463"/>
              </a:xfrm>
              <a:custGeom>
                <a:avLst/>
                <a:gdLst/>
                <a:ahLst/>
                <a:cxnLst/>
                <a:rect r="r" b="b" t="t" l="l"/>
                <a:pathLst>
                  <a:path h="316463" w="3299826">
                    <a:moveTo>
                      <a:pt x="3096626" y="0"/>
                    </a:moveTo>
                    <a:cubicBezTo>
                      <a:pt x="3208850" y="0"/>
                      <a:pt x="3299826" y="70843"/>
                      <a:pt x="3299826" y="158232"/>
                    </a:cubicBezTo>
                    <a:cubicBezTo>
                      <a:pt x="3299826" y="245621"/>
                      <a:pt x="3208850" y="316463"/>
                      <a:pt x="3096626" y="316463"/>
                    </a:cubicBezTo>
                    <a:lnTo>
                      <a:pt x="203200" y="316463"/>
                    </a:lnTo>
                    <a:cubicBezTo>
                      <a:pt x="90976" y="316463"/>
                      <a:pt x="0" y="245621"/>
                      <a:pt x="0" y="158232"/>
                    </a:cubicBezTo>
                    <a:cubicBezTo>
                      <a:pt x="0" y="70843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A66C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9050"/>
                <a:ext cx="3299826" cy="3355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314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Suitable for both traditional ML and advanced Deep Learning forecasting architectures.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572855" y="3906180"/>
              <a:ext cx="17161598" cy="1403350"/>
              <a:chOff x="0" y="0"/>
              <a:chExt cx="3389945" cy="27720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389945" cy="277205"/>
              </a:xfrm>
              <a:custGeom>
                <a:avLst/>
                <a:gdLst/>
                <a:ahLst/>
                <a:cxnLst/>
                <a:rect r="r" b="b" t="t" l="l"/>
                <a:pathLst>
                  <a:path h="277205" w="3389945">
                    <a:moveTo>
                      <a:pt x="3186745" y="0"/>
                    </a:moveTo>
                    <a:cubicBezTo>
                      <a:pt x="3298970" y="0"/>
                      <a:pt x="3389945" y="62054"/>
                      <a:pt x="3389945" y="138602"/>
                    </a:cubicBezTo>
                    <a:cubicBezTo>
                      <a:pt x="3389945" y="215151"/>
                      <a:pt x="3298970" y="277205"/>
                      <a:pt x="3186745" y="277205"/>
                    </a:cubicBezTo>
                    <a:lnTo>
                      <a:pt x="203200" y="277205"/>
                    </a:lnTo>
                    <a:cubicBezTo>
                      <a:pt x="90976" y="277205"/>
                      <a:pt x="0" y="215151"/>
                      <a:pt x="0" y="138602"/>
                    </a:cubicBezTo>
                    <a:cubicBezTo>
                      <a:pt x="0" y="6205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3389945" cy="2962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  <a:r>
                  <a:rPr lang="en-US" sz="3149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Rich variety of numerical, categorical, and cyclical features.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952079" y="4030031"/>
              <a:ext cx="1050684" cy="1155649"/>
              <a:chOff x="0" y="0"/>
              <a:chExt cx="830712" cy="91370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30712" cy="913701"/>
              </a:xfrm>
              <a:custGeom>
                <a:avLst/>
                <a:gdLst/>
                <a:ahLst/>
                <a:cxnLst/>
                <a:rect r="r" b="b" t="t" l="l"/>
                <a:pathLst>
                  <a:path h="913701" w="830712">
                    <a:moveTo>
                      <a:pt x="415356" y="0"/>
                    </a:moveTo>
                    <a:cubicBezTo>
                      <a:pt x="185961" y="0"/>
                      <a:pt x="0" y="204539"/>
                      <a:pt x="0" y="456851"/>
                    </a:cubicBezTo>
                    <a:cubicBezTo>
                      <a:pt x="0" y="709162"/>
                      <a:pt x="185961" y="913701"/>
                      <a:pt x="415356" y="913701"/>
                    </a:cubicBezTo>
                    <a:cubicBezTo>
                      <a:pt x="644751" y="913701"/>
                      <a:pt x="830712" y="709162"/>
                      <a:pt x="830712" y="456851"/>
                    </a:cubicBezTo>
                    <a:cubicBezTo>
                      <a:pt x="830712" y="204539"/>
                      <a:pt x="644751" y="0"/>
                      <a:pt x="4153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7879" y="66610"/>
                <a:ext cx="674954" cy="7614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733684" y="1810965"/>
              <a:ext cx="1050684" cy="1154204"/>
              <a:chOff x="0" y="0"/>
              <a:chExt cx="739901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3990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39901">
                    <a:moveTo>
                      <a:pt x="369950" y="0"/>
                    </a:moveTo>
                    <a:cubicBezTo>
                      <a:pt x="165632" y="0"/>
                      <a:pt x="0" y="181951"/>
                      <a:pt x="0" y="406400"/>
                    </a:cubicBezTo>
                    <a:cubicBezTo>
                      <a:pt x="0" y="630849"/>
                      <a:pt x="165632" y="812800"/>
                      <a:pt x="369950" y="812800"/>
                    </a:cubicBezTo>
                    <a:cubicBezTo>
                      <a:pt x="574268" y="812800"/>
                      <a:pt x="739901" y="630849"/>
                      <a:pt x="739901" y="406400"/>
                    </a:cubicBezTo>
                    <a:cubicBezTo>
                      <a:pt x="739901" y="181951"/>
                      <a:pt x="574268" y="0"/>
                      <a:pt x="3699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69366" y="57150"/>
                <a:ext cx="601169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2802567" y="181259"/>
              <a:ext cx="1050684" cy="1121707"/>
              <a:chOff x="0" y="0"/>
              <a:chExt cx="761337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76133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61337">
                    <a:moveTo>
                      <a:pt x="380668" y="0"/>
                    </a:moveTo>
                    <a:cubicBezTo>
                      <a:pt x="170431" y="0"/>
                      <a:pt x="0" y="181951"/>
                      <a:pt x="0" y="406400"/>
                    </a:cubicBezTo>
                    <a:cubicBezTo>
                      <a:pt x="0" y="630849"/>
                      <a:pt x="170431" y="812800"/>
                      <a:pt x="380668" y="812800"/>
                    </a:cubicBezTo>
                    <a:cubicBezTo>
                      <a:pt x="590906" y="812800"/>
                      <a:pt x="761337" y="630849"/>
                      <a:pt x="761337" y="406400"/>
                    </a:cubicBezTo>
                    <a:cubicBezTo>
                      <a:pt x="761337" y="181951"/>
                      <a:pt x="590906" y="0"/>
                      <a:pt x="38066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1375" y="57150"/>
                <a:ext cx="618586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14791" y="742112"/>
              <a:ext cx="4085262" cy="4114002"/>
              <a:chOff x="0" y="0"/>
              <a:chExt cx="691583" cy="696448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691583" cy="696448"/>
              </a:xfrm>
              <a:custGeom>
                <a:avLst/>
                <a:gdLst/>
                <a:ahLst/>
                <a:cxnLst/>
                <a:rect r="r" b="b" t="t" l="l"/>
                <a:pathLst>
                  <a:path h="696448" w="691583">
                    <a:moveTo>
                      <a:pt x="345791" y="0"/>
                    </a:moveTo>
                    <a:cubicBezTo>
                      <a:pt x="154816" y="0"/>
                      <a:pt x="0" y="155905"/>
                      <a:pt x="0" y="348224"/>
                    </a:cubicBezTo>
                    <a:cubicBezTo>
                      <a:pt x="0" y="540543"/>
                      <a:pt x="154816" y="696448"/>
                      <a:pt x="345791" y="696448"/>
                    </a:cubicBezTo>
                    <a:cubicBezTo>
                      <a:pt x="536767" y="696448"/>
                      <a:pt x="691583" y="540543"/>
                      <a:pt x="691583" y="348224"/>
                    </a:cubicBezTo>
                    <a:cubicBezTo>
                      <a:pt x="691583" y="155905"/>
                      <a:pt x="536767" y="0"/>
                      <a:pt x="34579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64836" y="46242"/>
                <a:ext cx="561911" cy="5849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0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549119"/>
              <a:ext cx="4314845" cy="141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0"/>
                </a:lnSpc>
                <a:spcBef>
                  <a:spcPct val="0"/>
                </a:spcBef>
              </a:pPr>
              <a:r>
                <a:rPr lang="en-US" b="true" sz="345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Characteris</a:t>
              </a:r>
              <a:r>
                <a:rPr lang="en-US" b="true" sz="345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tics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52814" y="162636"/>
            <a:ext cx="1222781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Datas</a:t>
            </a: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et info &amp; Description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Dataset Info &amp; Description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022EA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Mod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7684890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8448908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5290226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6139678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Feature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Engineering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2684" y="4082055"/>
            <a:ext cx="2072045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EDA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645741"/>
            <a:chOff x="0" y="0"/>
            <a:chExt cx="24384000" cy="21943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334"/>
            </a:xfrm>
            <a:custGeom>
              <a:avLst/>
              <a:gdLst/>
              <a:ahLst/>
              <a:cxnLst/>
              <a:rect r="r" b="b" t="t" l="l"/>
              <a:pathLst>
                <a:path h="219433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334"/>
                  </a:lnTo>
                  <a:lnTo>
                    <a:pt x="0" y="219433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250599" y="2099743"/>
            <a:ext cx="9851405" cy="7583355"/>
            <a:chOff x="0" y="0"/>
            <a:chExt cx="10216805" cy="78646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16769" cy="7864602"/>
            </a:xfrm>
            <a:custGeom>
              <a:avLst/>
              <a:gdLst/>
              <a:ahLst/>
              <a:cxnLst/>
              <a:rect r="r" b="b" t="t" l="l"/>
              <a:pathLst>
                <a:path h="7864602" w="10216769">
                  <a:moveTo>
                    <a:pt x="0" y="0"/>
                  </a:moveTo>
                  <a:lnTo>
                    <a:pt x="10216769" y="0"/>
                  </a:lnTo>
                  <a:lnTo>
                    <a:pt x="10216769" y="7864602"/>
                  </a:lnTo>
                  <a:lnTo>
                    <a:pt x="0" y="7864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2346" y="266700"/>
            <a:ext cx="1623536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610" y="2771775"/>
            <a:ext cx="7729339" cy="551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 A st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ores ge</a:t>
            </a:r>
            <a:r>
              <a:rPr lang="en-US" sz="3299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nera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 the highest weekly sales, mainly due to their larger size and wider product variety.</a:t>
            </a: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Types B and C show lower sales, likely because they serve smaller markets with fewer departments.</a:t>
            </a: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These differences highlight why inventory, staffing, and markdown strategies vary across store formats.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645741"/>
            <a:chOff x="0" y="0"/>
            <a:chExt cx="24384000" cy="21943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334"/>
            </a:xfrm>
            <a:custGeom>
              <a:avLst/>
              <a:gdLst/>
              <a:ahLst/>
              <a:cxnLst/>
              <a:rect r="r" b="b" t="t" l="l"/>
              <a:pathLst>
                <a:path h="219433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334"/>
                  </a:lnTo>
                  <a:lnTo>
                    <a:pt x="0" y="219433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18827" y="1905190"/>
            <a:ext cx="11191234" cy="7777908"/>
          </a:xfrm>
          <a:custGeom>
            <a:avLst/>
            <a:gdLst/>
            <a:ahLst/>
            <a:cxnLst/>
            <a:rect r="r" b="b" t="t" l="l"/>
            <a:pathLst>
              <a:path h="7777908" w="11191234">
                <a:moveTo>
                  <a:pt x="0" y="0"/>
                </a:moveTo>
                <a:lnTo>
                  <a:pt x="11191234" y="0"/>
                </a:lnTo>
                <a:lnTo>
                  <a:pt x="11191234" y="7777908"/>
                </a:lnTo>
                <a:lnTo>
                  <a:pt x="0" y="7777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4233" y="265658"/>
            <a:ext cx="182784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463" y="2800350"/>
            <a:ext cx="6393113" cy="452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chart shows a cl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 positive relati</a:t>
            </a:r>
            <a:r>
              <a:rPr lang="en-US" sz="3299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onship between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store size and average weekly sales.</a:t>
            </a:r>
          </a:p>
          <a:p>
            <a:pPr algn="l">
              <a:lnSpc>
                <a:spcPts val="3959"/>
              </a:lnSpc>
            </a:pP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Larger stores tend to generate higher sales, reflecting their wider assortment and greater customer capacity.</a:t>
            </a:r>
          </a:p>
          <a:p>
            <a:pPr algn="l">
              <a:lnSpc>
                <a:spcPts val="39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645741"/>
            <a:chOff x="0" y="0"/>
            <a:chExt cx="24384000" cy="21943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334"/>
            </a:xfrm>
            <a:custGeom>
              <a:avLst/>
              <a:gdLst/>
              <a:ahLst/>
              <a:cxnLst/>
              <a:rect r="r" b="b" t="t" l="l"/>
              <a:pathLst>
                <a:path h="219433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334"/>
                  </a:lnTo>
                  <a:lnTo>
                    <a:pt x="0" y="219433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4233" y="265658"/>
            <a:ext cx="1827848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1645741"/>
            <a:ext cx="9711142" cy="6094578"/>
            <a:chOff x="0" y="0"/>
            <a:chExt cx="11658600" cy="73167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58600" cy="7316724"/>
            </a:xfrm>
            <a:custGeom>
              <a:avLst/>
              <a:gdLst/>
              <a:ahLst/>
              <a:cxnLst/>
              <a:rect r="r" b="b" t="t" l="l"/>
              <a:pathLst>
                <a:path h="7316724" w="11658600">
                  <a:moveTo>
                    <a:pt x="0" y="0"/>
                  </a:moveTo>
                  <a:lnTo>
                    <a:pt x="11658600" y="0"/>
                  </a:lnTo>
                  <a:lnTo>
                    <a:pt x="11658600" y="7316724"/>
                  </a:lnTo>
                  <a:lnTo>
                    <a:pt x="0" y="7316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0" y="8058150"/>
            <a:ext cx="92044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244" indent="-306622" lvl="1">
              <a:lnSpc>
                <a:spcPts val="3408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Weekly sal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are</a:t>
            </a:r>
            <a:r>
              <a:rPr lang="en-US" sz="284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mostly concen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trated at lower values, while h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igh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sales occur less often—typically during major events or seasonal peaks.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962159" y="1757349"/>
            <a:ext cx="7819058" cy="6074288"/>
          </a:xfrm>
          <a:custGeom>
            <a:avLst/>
            <a:gdLst/>
            <a:ahLst/>
            <a:cxnLst/>
            <a:rect r="r" b="b" t="t" l="l"/>
            <a:pathLst>
              <a:path h="6074288" w="7819058">
                <a:moveTo>
                  <a:pt x="0" y="0"/>
                </a:moveTo>
                <a:lnTo>
                  <a:pt x="7819058" y="0"/>
                </a:lnTo>
                <a:lnTo>
                  <a:pt x="7819058" y="6074288"/>
                </a:lnTo>
                <a:lnTo>
                  <a:pt x="0" y="6074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67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711142" y="7886096"/>
            <a:ext cx="8321093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655" indent="-295827" lvl="1">
              <a:lnSpc>
                <a:spcPts val="3288"/>
              </a:lnSpc>
              <a:buFont typeface="Arial"/>
              <a:buChar char="•"/>
            </a:pPr>
            <a:r>
              <a:rPr lang="en-US" sz="27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Holiday weeks s</a:t>
            </a:r>
            <a:r>
              <a:rPr lang="en-US" sz="274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how noticeably</a:t>
            </a:r>
            <a:r>
              <a:rPr lang="en-US" sz="27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higher average sales, driven by seasonal demand and promotions.</a:t>
            </a:r>
          </a:p>
          <a:p>
            <a:pPr algn="l" marL="591655" indent="-295827" lvl="1">
              <a:lnSpc>
                <a:spcPts val="3288"/>
              </a:lnSpc>
              <a:buFont typeface="Arial"/>
              <a:buChar char="•"/>
            </a:pPr>
            <a:r>
              <a:rPr lang="en-US" sz="27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Even if the jump seems modest on the chart, these weeks play a disproportionately large role in total yearly revenue.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36371"/>
            <a:chOff x="0" y="0"/>
            <a:chExt cx="24384000" cy="19151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15175"/>
            </a:xfrm>
            <a:custGeom>
              <a:avLst/>
              <a:gdLst/>
              <a:ahLst/>
              <a:cxnLst/>
              <a:rect r="r" b="b" t="t" l="l"/>
              <a:pathLst>
                <a:path h="19151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15175"/>
                  </a:lnTo>
                  <a:lnTo>
                    <a:pt x="0" y="1915175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490815" y="1759085"/>
            <a:ext cx="13640913" cy="6768829"/>
            <a:chOff x="0" y="0"/>
            <a:chExt cx="16221000" cy="80491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20948" cy="8049133"/>
            </a:xfrm>
            <a:custGeom>
              <a:avLst/>
              <a:gdLst/>
              <a:ahLst/>
              <a:cxnLst/>
              <a:rect r="r" b="b" t="t" l="l"/>
              <a:pathLst>
                <a:path h="8049133" w="16220948">
                  <a:moveTo>
                    <a:pt x="0" y="0"/>
                  </a:moveTo>
                  <a:lnTo>
                    <a:pt x="16220948" y="0"/>
                  </a:lnTo>
                  <a:lnTo>
                    <a:pt x="16220948" y="8049133"/>
                  </a:lnTo>
                  <a:lnTo>
                    <a:pt x="0" y="8049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0798" y="314415"/>
            <a:ext cx="161901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9"/>
              </a:lnSpc>
            </a:pPr>
            <a:r>
              <a:rPr lang="en-US" sz="6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597" y="1948364"/>
            <a:ext cx="4257219" cy="648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Store size shows the strongest positive correlation with weekly sal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es, confirm</a:t>
            </a:r>
            <a:r>
              <a:rPr lang="en-US" sz="284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 that larger stores generate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higher revenue. Most other features—like temperature, fuel price, CPI, and markdowns—show weak correlations, indicating that their influence is indirect or limited to specific promotional periods.</a:t>
            </a:r>
          </a:p>
          <a:p>
            <a:pPr algn="l">
              <a:lnSpc>
                <a:spcPts val="3408"/>
              </a:lnSpc>
            </a:pPr>
          </a:p>
          <a:p>
            <a:pPr algn="l">
              <a:lnSpc>
                <a:spcPts val="3408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39974"/>
            <a:chOff x="0" y="0"/>
            <a:chExt cx="24384000" cy="1919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19978"/>
            </a:xfrm>
            <a:custGeom>
              <a:avLst/>
              <a:gdLst/>
              <a:ahLst/>
              <a:cxnLst/>
              <a:rect r="r" b="b" t="t" l="l"/>
              <a:pathLst>
                <a:path h="19199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19978"/>
                  </a:lnTo>
                  <a:lnTo>
                    <a:pt x="0" y="1919978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5673073" y="1662588"/>
            <a:ext cx="12235491" cy="7750091"/>
            <a:chOff x="0" y="0"/>
            <a:chExt cx="12877800" cy="8156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77800" cy="8156956"/>
            </a:xfrm>
            <a:custGeom>
              <a:avLst/>
              <a:gdLst/>
              <a:ahLst/>
              <a:cxnLst/>
              <a:rect r="r" b="b" t="t" l="l"/>
              <a:pathLst>
                <a:path h="8156956" w="12877800">
                  <a:moveTo>
                    <a:pt x="0" y="0"/>
                  </a:moveTo>
                  <a:lnTo>
                    <a:pt x="12877800" y="0"/>
                  </a:lnTo>
                  <a:lnTo>
                    <a:pt x="12877800" y="8156956"/>
                  </a:lnTo>
                  <a:lnTo>
                    <a:pt x="0" y="815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6997" y="316216"/>
            <a:ext cx="15667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57" y="3086234"/>
            <a:ext cx="5413851" cy="555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423" indent="-328211" lvl="1">
              <a:lnSpc>
                <a:spcPts val="3648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seasonal pattern shows a pronounced spike in sal</a:t>
            </a:r>
            <a:r>
              <a:rPr lang="en-US" sz="30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dur</a:t>
            </a:r>
            <a:r>
              <a:rPr lang="en-US" sz="304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 the final mont</a:t>
            </a:r>
            <a:r>
              <a:rPr lang="en-US" sz="30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hs of the year, coinciding with Thanksgiving, Black Friday, and Christmas-driven demand.</a:t>
            </a:r>
          </a:p>
          <a:p>
            <a:pPr algn="l">
              <a:lnSpc>
                <a:spcPts val="3648"/>
              </a:lnSpc>
            </a:pPr>
          </a:p>
          <a:p>
            <a:pPr algn="l" marL="656423" indent="-328211" lvl="1">
              <a:lnSpc>
                <a:spcPts val="3648"/>
              </a:lnSpc>
              <a:buFont typeface="Arial"/>
              <a:buChar char="•"/>
            </a:pPr>
            <a:r>
              <a:rPr lang="en-US" sz="30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 contrast, the middle months of the year exhibit softer sales.</a:t>
            </a:r>
          </a:p>
          <a:p>
            <a:pPr algn="l">
              <a:lnSpc>
                <a:spcPts val="3648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39974"/>
            <a:chOff x="0" y="0"/>
            <a:chExt cx="24384000" cy="1919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19978"/>
            </a:xfrm>
            <a:custGeom>
              <a:avLst/>
              <a:gdLst/>
              <a:ahLst/>
              <a:cxnLst/>
              <a:rect r="r" b="b" t="t" l="l"/>
              <a:pathLst>
                <a:path h="19199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19978"/>
                  </a:lnTo>
                  <a:lnTo>
                    <a:pt x="0" y="1919978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895380" y="1240141"/>
            <a:ext cx="14186980" cy="6596946"/>
          </a:xfrm>
          <a:custGeom>
            <a:avLst/>
            <a:gdLst/>
            <a:ahLst/>
            <a:cxnLst/>
            <a:rect r="r" b="b" t="t" l="l"/>
            <a:pathLst>
              <a:path h="6596946" w="14186980">
                <a:moveTo>
                  <a:pt x="0" y="0"/>
                </a:moveTo>
                <a:lnTo>
                  <a:pt x="14186980" y="0"/>
                </a:lnTo>
                <a:lnTo>
                  <a:pt x="14186980" y="6596946"/>
                </a:lnTo>
                <a:lnTo>
                  <a:pt x="0" y="6596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6997" y="316216"/>
            <a:ext cx="156674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546" y="7632864"/>
            <a:ext cx="18072454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244" indent="-306622" lvl="1">
              <a:lnSpc>
                <a:spcPts val="3408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chart shows that although each year follows a similar seasonal pattern, overall sal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 </a:t>
            </a:r>
            <a:r>
              <a:rPr lang="en-US" sz="2840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levels vary slightly from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year to year.</a:t>
            </a:r>
          </a:p>
          <a:p>
            <a:pPr algn="l" marL="613244" indent="-306622" lvl="1">
              <a:lnSpc>
                <a:spcPts val="3408"/>
              </a:lnSpc>
              <a:buFont typeface="Arial"/>
              <a:buChar char="•"/>
            </a:pP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hese differences may be influenced by changing promotional strategies, markdown intensity, local econom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284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 fluctuations, and store expansions.</a:t>
            </a:r>
          </a:p>
          <a:p>
            <a:pPr algn="l">
              <a:lnSpc>
                <a:spcPts val="3408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Mod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8407897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57808" y="7696761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5290226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022EA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6139678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Feature Engineering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2684" y="3286125"/>
            <a:ext cx="1007253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3471"/>
            <a:chOff x="0" y="0"/>
            <a:chExt cx="24384000" cy="237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77974"/>
            </a:xfrm>
            <a:custGeom>
              <a:avLst/>
              <a:gdLst/>
              <a:ahLst/>
              <a:cxnLst/>
              <a:rect r="r" b="b" t="t" l="l"/>
              <a:pathLst>
                <a:path h="237797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77974"/>
                  </a:lnTo>
                  <a:lnTo>
                    <a:pt x="0" y="237797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3440" y="1938752"/>
            <a:ext cx="17117643" cy="743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improve prediction accuracy, several layers of engineered features were added.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These features help models understand seasonality, trends, store differences, and time dependencies.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 Time-Based Features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Extracted from the Date: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Year, Month, Week of Year, Quarter, Day of Year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Cyclical encodings using sin/cos for Month &amp; Week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Allows the model to understand repeating seasonal patterns.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 Lag Features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Created lagged versions of Weekly Sales: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Lag-1, Lag-4, Lag-8, Lag-12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Capture short-term and long-term relationships with past sales.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53440" y="519225"/>
            <a:ext cx="1119092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Engineering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3471"/>
            <a:chOff x="0" y="0"/>
            <a:chExt cx="24384000" cy="237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77974"/>
            </a:xfrm>
            <a:custGeom>
              <a:avLst/>
              <a:gdLst/>
              <a:ahLst/>
              <a:cxnLst/>
              <a:rect r="r" b="b" t="t" l="l"/>
              <a:pathLst>
                <a:path h="237797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77974"/>
                  </a:lnTo>
                  <a:lnTo>
                    <a:pt x="0" y="237797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53440" y="1592971"/>
            <a:ext cx="17117643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 Categ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orical Encoding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Store Type (A/B/C) → One-Hot Encoding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IsHoliday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Converted to numerical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 Missing Value Treatment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Markdown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fe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atures: filled with 0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CPI &amp; Unemployment: filled with median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Ensured dataset completeness for ML &amp; DL training.</a:t>
            </a:r>
          </a:p>
          <a:p>
            <a:pPr algn="l">
              <a:lnSpc>
                <a:spcPts val="371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81771" y="1028700"/>
            <a:ext cx="2989311" cy="4114800"/>
          </a:xfrm>
          <a:custGeom>
            <a:avLst/>
            <a:gdLst/>
            <a:ahLst/>
            <a:cxnLst/>
            <a:rect r="r" b="b" t="t" l="l"/>
            <a:pathLst>
              <a:path h="4114800" w="2989311">
                <a:moveTo>
                  <a:pt x="0" y="0"/>
                </a:moveTo>
                <a:lnTo>
                  <a:pt x="2989312" y="0"/>
                </a:lnTo>
                <a:lnTo>
                  <a:pt x="29893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7441" y="968545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440" y="519225"/>
            <a:ext cx="1119092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Engineering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74205" y="6227882"/>
            <a:ext cx="17457730" cy="3305175"/>
            <a:chOff x="0" y="0"/>
            <a:chExt cx="23276973" cy="440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76940" cy="4406900"/>
            </a:xfrm>
            <a:custGeom>
              <a:avLst/>
              <a:gdLst/>
              <a:ahLst/>
              <a:cxnLst/>
              <a:rect r="r" b="b" t="t" l="l"/>
              <a:pathLst>
                <a:path h="4406900" w="23276940">
                  <a:moveTo>
                    <a:pt x="0" y="0"/>
                  </a:moveTo>
                  <a:lnTo>
                    <a:pt x="23276940" y="0"/>
                  </a:lnTo>
                  <a:lnTo>
                    <a:pt x="23276940" y="4406900"/>
                  </a:lnTo>
                  <a:lnTo>
                    <a:pt x="0" y="440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3471"/>
            <a:chOff x="0" y="0"/>
            <a:chExt cx="24384000" cy="2377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77974"/>
            </a:xfrm>
            <a:custGeom>
              <a:avLst/>
              <a:gdLst/>
              <a:ahLst/>
              <a:cxnLst/>
              <a:rect r="r" b="b" t="t" l="l"/>
              <a:pathLst>
                <a:path h="237797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77974"/>
                  </a:lnTo>
                  <a:lnTo>
                    <a:pt x="0" y="237797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3440" y="1948277"/>
            <a:ext cx="17117643" cy="597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R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olling Window Statistics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Computed moving patterns: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Rolling Mean (4, 8, 12 weeks)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Rolling Standard Deviation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Helps the model learn momentum, variability, and trend direction.</a:t>
            </a:r>
          </a:p>
          <a:p>
            <a:pPr algn="l">
              <a:lnSpc>
                <a:spcPts val="383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 Store &amp; Department-Level Aggregations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ach date: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</a:t>
            </a: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 total weekly sales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Store average &amp; standard deviation</a:t>
            </a:r>
          </a:p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average &amp; standard deviation</a:t>
            </a:r>
          </a:p>
          <a:p>
            <a:pPr algn="l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Adds hierarchical information that improves accuracy.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440" y="519225"/>
            <a:ext cx="1119092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Engineering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6925236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</a:t>
              </a: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eling Strategy &amp; Results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018319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022EA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8396354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77949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7696761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5290226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6139678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Feature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Engineering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92684" y="4082055"/>
            <a:ext cx="14179273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Modeling Strategy &amp; Results</a:t>
            </a:r>
          </a:p>
        </p:txBody>
      </p:sp>
      <p:sp>
        <p:nvSpPr>
          <p:cNvPr name="AutoShape 4" id="4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61625"/>
            <a:chOff x="0" y="0"/>
            <a:chExt cx="24384000" cy="1948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48847"/>
            </a:xfrm>
            <a:custGeom>
              <a:avLst/>
              <a:gdLst/>
              <a:ahLst/>
              <a:cxnLst/>
              <a:rect r="r" b="b" t="t" l="l"/>
              <a:pathLst>
                <a:path h="19488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48847"/>
                  </a:lnTo>
                  <a:lnTo>
                    <a:pt x="0" y="1948847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4758" y="240275"/>
            <a:ext cx="658891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Modeling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565" y="1164200"/>
            <a:ext cx="17608871" cy="830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1. Traditional Machine Learning Models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▪ 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Linear Regression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baseline model that learns a linear relationship between weekly sales and all engineered predictors.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provides an interpretable perspective on how numerical features influence sales and acts as a benchmark for nonlinear models.</a:t>
            </a: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▪ Random Forest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ensemble of decision trees that captures nonlinear patterns across stores, departments, holidays, economic indicators, and rolling/lag features.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benefits from the large dataset and provides stable predictions through feature averaging.</a:t>
            </a: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▪ XGBoost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boosted tree-based model that fits patterns sequentially, improving residual errors at each stage.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uses:  Lag features - Rolling windows - Temperature, CPI, Unemployment - Store/Dept statistics - Seasonality encodings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made it highly responsive to subtle trends and interactions within the data.</a:t>
            </a:r>
          </a:p>
          <a:p>
            <a:pPr algn="l" marL="669289" indent="-334645" lvl="1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served as the primary forecasting engine in the final system.</a:t>
            </a:r>
          </a:p>
          <a:p>
            <a:pPr algn="l">
              <a:lnSpc>
                <a:spcPts val="3719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61625"/>
            <a:chOff x="0" y="0"/>
            <a:chExt cx="24384000" cy="1948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48847"/>
            </a:xfrm>
            <a:custGeom>
              <a:avLst/>
              <a:gdLst/>
              <a:ahLst/>
              <a:cxnLst/>
              <a:rect r="r" b="b" t="t" l="l"/>
              <a:pathLst>
                <a:path h="19488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48847"/>
                  </a:lnTo>
                  <a:lnTo>
                    <a:pt x="0" y="1948847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4758" y="240275"/>
            <a:ext cx="658891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Modeling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566" y="971550"/>
            <a:ext cx="17608871" cy="890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Deep Learning Models</a:t>
            </a:r>
          </a:p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▪ 1. Fully Connected Neur</a:t>
            </a: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 Network (Dense Network)</a:t>
            </a:r>
          </a:p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: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the model does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captures complex feature patterns and transforms them into stable, accurate sales predictions.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▪ 2. LSTM (Sequence Model)</a:t>
            </a:r>
          </a:p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Architecture: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the LSTM does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LSTM was trained using sliding-window sequences per store–department, where each input captured the past 8 weeks of features.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 learns how weekly sales evolve over time by modeling seasonal patterns, recent trends, and the influence of external factors through its temporal memory units.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4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746702" y="2405636"/>
            <a:ext cx="15366083" cy="1000099"/>
            <a:chOff x="0" y="0"/>
            <a:chExt cx="20488111" cy="133346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07705" cy="1333466"/>
              <a:chOff x="0" y="0"/>
              <a:chExt cx="475596" cy="26340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75596" cy="263401"/>
              </a:xfrm>
              <a:custGeom>
                <a:avLst/>
                <a:gdLst/>
                <a:ahLst/>
                <a:cxnLst/>
                <a:rect r="r" b="b" t="t" l="l"/>
                <a:pathLst>
                  <a:path h="263401" w="475596">
                    <a:moveTo>
                      <a:pt x="72884" y="0"/>
                    </a:moveTo>
                    <a:lnTo>
                      <a:pt x="402712" y="0"/>
                    </a:lnTo>
                    <a:cubicBezTo>
                      <a:pt x="422042" y="0"/>
                      <a:pt x="440580" y="7679"/>
                      <a:pt x="454249" y="21347"/>
                    </a:cubicBezTo>
                    <a:cubicBezTo>
                      <a:pt x="467917" y="35016"/>
                      <a:pt x="475596" y="53554"/>
                      <a:pt x="475596" y="72884"/>
                    </a:cubicBezTo>
                    <a:lnTo>
                      <a:pt x="475596" y="190516"/>
                    </a:lnTo>
                    <a:cubicBezTo>
                      <a:pt x="475596" y="230769"/>
                      <a:pt x="442965" y="263401"/>
                      <a:pt x="402712" y="263401"/>
                    </a:cubicBezTo>
                    <a:lnTo>
                      <a:pt x="72884" y="263401"/>
                    </a:lnTo>
                    <a:cubicBezTo>
                      <a:pt x="53554" y="263401"/>
                      <a:pt x="35016" y="255722"/>
                      <a:pt x="21347" y="242053"/>
                    </a:cubicBezTo>
                    <a:cubicBezTo>
                      <a:pt x="7679" y="228385"/>
                      <a:pt x="0" y="209847"/>
                      <a:pt x="0" y="190516"/>
                    </a:cubicBezTo>
                    <a:lnTo>
                      <a:pt x="0" y="72884"/>
                    </a:lnTo>
                    <a:cubicBezTo>
                      <a:pt x="0" y="53554"/>
                      <a:pt x="7679" y="35016"/>
                      <a:pt x="21347" y="21347"/>
                    </a:cubicBezTo>
                    <a:cubicBezTo>
                      <a:pt x="35016" y="7679"/>
                      <a:pt x="53554" y="0"/>
                      <a:pt x="72884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475596" cy="2824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9"/>
                  </a:lnSpc>
                </a:pPr>
                <a:r>
                  <a:rPr lang="en-US" b="true" sz="2349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Dense(128, ReLU)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560105" y="0"/>
              <a:ext cx="3156254" cy="1333466"/>
              <a:chOff x="0" y="0"/>
              <a:chExt cx="623458" cy="26340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23458" cy="263401"/>
              </a:xfrm>
              <a:custGeom>
                <a:avLst/>
                <a:gdLst/>
                <a:ahLst/>
                <a:cxnLst/>
                <a:rect r="r" b="b" t="t" l="l"/>
                <a:pathLst>
                  <a:path h="263401" w="623458">
                    <a:moveTo>
                      <a:pt x="55599" y="0"/>
                    </a:moveTo>
                    <a:lnTo>
                      <a:pt x="567859" y="0"/>
                    </a:lnTo>
                    <a:cubicBezTo>
                      <a:pt x="582605" y="0"/>
                      <a:pt x="596746" y="5858"/>
                      <a:pt x="607173" y="16284"/>
                    </a:cubicBezTo>
                    <a:cubicBezTo>
                      <a:pt x="617600" y="26711"/>
                      <a:pt x="623458" y="40853"/>
                      <a:pt x="623458" y="55599"/>
                    </a:cubicBezTo>
                    <a:lnTo>
                      <a:pt x="623458" y="207802"/>
                    </a:lnTo>
                    <a:cubicBezTo>
                      <a:pt x="623458" y="222548"/>
                      <a:pt x="617600" y="236689"/>
                      <a:pt x="607173" y="247116"/>
                    </a:cubicBezTo>
                    <a:cubicBezTo>
                      <a:pt x="596746" y="257543"/>
                      <a:pt x="582605" y="263401"/>
                      <a:pt x="567859" y="263401"/>
                    </a:cubicBezTo>
                    <a:lnTo>
                      <a:pt x="55599" y="263401"/>
                    </a:lnTo>
                    <a:cubicBezTo>
                      <a:pt x="40853" y="263401"/>
                      <a:pt x="26711" y="257543"/>
                      <a:pt x="16284" y="247116"/>
                    </a:cubicBezTo>
                    <a:cubicBezTo>
                      <a:pt x="5858" y="236689"/>
                      <a:pt x="0" y="222548"/>
                      <a:pt x="0" y="207802"/>
                    </a:cubicBezTo>
                    <a:lnTo>
                      <a:pt x="0" y="55599"/>
                    </a:lnTo>
                    <a:cubicBezTo>
                      <a:pt x="0" y="40853"/>
                      <a:pt x="5858" y="26711"/>
                      <a:pt x="16284" y="16284"/>
                    </a:cubicBezTo>
                    <a:cubicBezTo>
                      <a:pt x="26711" y="5858"/>
                      <a:pt x="40853" y="0"/>
                      <a:pt x="55599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623458" cy="2824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9"/>
                  </a:lnSpc>
                </a:pPr>
                <a:r>
                  <a:rPr lang="en-US" b="true" sz="2349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Batch Normalization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5856059" y="56043"/>
              <a:ext cx="2836988" cy="1277422"/>
              <a:chOff x="0" y="0"/>
              <a:chExt cx="560393" cy="25233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60393" cy="252330"/>
              </a:xfrm>
              <a:custGeom>
                <a:avLst/>
                <a:gdLst/>
                <a:ahLst/>
                <a:cxnLst/>
                <a:rect r="r" b="b" t="t" l="l"/>
                <a:pathLst>
                  <a:path h="252330" w="560393">
                    <a:moveTo>
                      <a:pt x="61856" y="0"/>
                    </a:moveTo>
                    <a:lnTo>
                      <a:pt x="498537" y="0"/>
                    </a:lnTo>
                    <a:cubicBezTo>
                      <a:pt x="514942" y="0"/>
                      <a:pt x="530675" y="6517"/>
                      <a:pt x="542276" y="18117"/>
                    </a:cubicBezTo>
                    <a:cubicBezTo>
                      <a:pt x="553876" y="29717"/>
                      <a:pt x="560393" y="45450"/>
                      <a:pt x="560393" y="61856"/>
                    </a:cubicBezTo>
                    <a:lnTo>
                      <a:pt x="560393" y="190475"/>
                    </a:lnTo>
                    <a:cubicBezTo>
                      <a:pt x="560393" y="224637"/>
                      <a:pt x="532699" y="252330"/>
                      <a:pt x="498537" y="252330"/>
                    </a:cubicBezTo>
                    <a:lnTo>
                      <a:pt x="61856" y="252330"/>
                    </a:lnTo>
                    <a:cubicBezTo>
                      <a:pt x="45450" y="252330"/>
                      <a:pt x="29717" y="245813"/>
                      <a:pt x="18117" y="234213"/>
                    </a:cubicBezTo>
                    <a:cubicBezTo>
                      <a:pt x="6517" y="222613"/>
                      <a:pt x="0" y="206880"/>
                      <a:pt x="0" y="190475"/>
                    </a:cubicBezTo>
                    <a:lnTo>
                      <a:pt x="0" y="61856"/>
                    </a:lnTo>
                    <a:cubicBezTo>
                      <a:pt x="0" y="45450"/>
                      <a:pt x="6517" y="29717"/>
                      <a:pt x="18117" y="18117"/>
                    </a:cubicBezTo>
                    <a:cubicBezTo>
                      <a:pt x="29717" y="6517"/>
                      <a:pt x="45450" y="0"/>
                      <a:pt x="61856" y="0"/>
                    </a:cubicBezTo>
                    <a:close/>
                  </a:path>
                </a:pathLst>
              </a:custGeom>
              <a:solidFill>
                <a:srgbClr val="022EA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560393" cy="271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19"/>
                  </a:lnSpc>
                  <a:spcBef>
                    <a:spcPct val="0"/>
                  </a:spcBef>
                </a:pPr>
                <a:r>
                  <a:rPr lang="en-US" b="true" sz="2349" strike="noStrike" u="non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Dropout(0.3)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820046" y="56043"/>
              <a:ext cx="4390952" cy="1277422"/>
              <a:chOff x="0" y="0"/>
              <a:chExt cx="867349" cy="25233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67349" cy="252330"/>
              </a:xfrm>
              <a:custGeom>
                <a:avLst/>
                <a:gdLst/>
                <a:ahLst/>
                <a:cxnLst/>
                <a:rect r="r" b="b" t="t" l="l"/>
                <a:pathLst>
                  <a:path h="252330" w="867349">
                    <a:moveTo>
                      <a:pt x="39965" y="0"/>
                    </a:moveTo>
                    <a:lnTo>
                      <a:pt x="827384" y="0"/>
                    </a:lnTo>
                    <a:cubicBezTo>
                      <a:pt x="837983" y="0"/>
                      <a:pt x="848148" y="4211"/>
                      <a:pt x="855643" y="11705"/>
                    </a:cubicBezTo>
                    <a:cubicBezTo>
                      <a:pt x="863138" y="19200"/>
                      <a:pt x="867349" y="29365"/>
                      <a:pt x="867349" y="39965"/>
                    </a:cubicBezTo>
                    <a:lnTo>
                      <a:pt x="867349" y="212366"/>
                    </a:lnTo>
                    <a:cubicBezTo>
                      <a:pt x="867349" y="222965"/>
                      <a:pt x="863138" y="233130"/>
                      <a:pt x="855643" y="240625"/>
                    </a:cubicBezTo>
                    <a:cubicBezTo>
                      <a:pt x="848148" y="248120"/>
                      <a:pt x="837983" y="252330"/>
                      <a:pt x="827384" y="252330"/>
                    </a:cubicBezTo>
                    <a:lnTo>
                      <a:pt x="39965" y="252330"/>
                    </a:lnTo>
                    <a:cubicBezTo>
                      <a:pt x="29365" y="252330"/>
                      <a:pt x="19200" y="248120"/>
                      <a:pt x="11705" y="240625"/>
                    </a:cubicBezTo>
                    <a:cubicBezTo>
                      <a:pt x="4211" y="233130"/>
                      <a:pt x="0" y="222965"/>
                      <a:pt x="0" y="212366"/>
                    </a:cubicBezTo>
                    <a:lnTo>
                      <a:pt x="0" y="39965"/>
                    </a:lnTo>
                    <a:cubicBezTo>
                      <a:pt x="0" y="29365"/>
                      <a:pt x="4211" y="19200"/>
                      <a:pt x="11705" y="11705"/>
                    </a:cubicBezTo>
                    <a:cubicBezTo>
                      <a:pt x="19200" y="4211"/>
                      <a:pt x="29365" y="0"/>
                      <a:pt x="39965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867349" cy="271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9"/>
                  </a:lnSpc>
                </a:pPr>
                <a:r>
                  <a:rPr lang="en-US" b="true" sz="2349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Dense(64, ReLU) + BatchNorm + Dropout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3363399" y="0"/>
              <a:ext cx="2401431" cy="1333466"/>
              <a:chOff x="0" y="0"/>
              <a:chExt cx="474357" cy="26340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74357" cy="263401"/>
              </a:xfrm>
              <a:custGeom>
                <a:avLst/>
                <a:gdLst/>
                <a:ahLst/>
                <a:cxnLst/>
                <a:rect r="r" b="b" t="t" l="l"/>
                <a:pathLst>
                  <a:path h="263401" w="474357">
                    <a:moveTo>
                      <a:pt x="73075" y="0"/>
                    </a:moveTo>
                    <a:lnTo>
                      <a:pt x="401282" y="0"/>
                    </a:lnTo>
                    <a:cubicBezTo>
                      <a:pt x="420663" y="0"/>
                      <a:pt x="439250" y="7699"/>
                      <a:pt x="452954" y="21403"/>
                    </a:cubicBezTo>
                    <a:cubicBezTo>
                      <a:pt x="466658" y="35107"/>
                      <a:pt x="474357" y="53694"/>
                      <a:pt x="474357" y="73075"/>
                    </a:cubicBezTo>
                    <a:lnTo>
                      <a:pt x="474357" y="190326"/>
                    </a:lnTo>
                    <a:cubicBezTo>
                      <a:pt x="474357" y="209707"/>
                      <a:pt x="466658" y="228293"/>
                      <a:pt x="452954" y="241998"/>
                    </a:cubicBezTo>
                    <a:cubicBezTo>
                      <a:pt x="439250" y="255702"/>
                      <a:pt x="420663" y="263401"/>
                      <a:pt x="401282" y="263401"/>
                    </a:cubicBezTo>
                    <a:lnTo>
                      <a:pt x="73075" y="263401"/>
                    </a:lnTo>
                    <a:cubicBezTo>
                      <a:pt x="53694" y="263401"/>
                      <a:pt x="35107" y="255702"/>
                      <a:pt x="21403" y="241998"/>
                    </a:cubicBezTo>
                    <a:cubicBezTo>
                      <a:pt x="7699" y="228293"/>
                      <a:pt x="0" y="209707"/>
                      <a:pt x="0" y="190326"/>
                    </a:cubicBezTo>
                    <a:lnTo>
                      <a:pt x="0" y="73075"/>
                    </a:lnTo>
                    <a:cubicBezTo>
                      <a:pt x="0" y="53694"/>
                      <a:pt x="7699" y="35107"/>
                      <a:pt x="21403" y="21403"/>
                    </a:cubicBezTo>
                    <a:cubicBezTo>
                      <a:pt x="35107" y="7699"/>
                      <a:pt x="53694" y="0"/>
                      <a:pt x="73075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474357" cy="2824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9"/>
                  </a:lnSpc>
                </a:pPr>
                <a:r>
                  <a:rPr lang="en-US" b="true" sz="2349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Dense(32, ReLU)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5942630" y="56043"/>
              <a:ext cx="2225683" cy="1277422"/>
              <a:chOff x="0" y="0"/>
              <a:chExt cx="439641" cy="25233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39641" cy="252330"/>
              </a:xfrm>
              <a:custGeom>
                <a:avLst/>
                <a:gdLst/>
                <a:ahLst/>
                <a:cxnLst/>
                <a:rect r="r" b="b" t="t" l="l"/>
                <a:pathLst>
                  <a:path h="252330" w="439641">
                    <a:moveTo>
                      <a:pt x="78845" y="0"/>
                    </a:moveTo>
                    <a:lnTo>
                      <a:pt x="360796" y="0"/>
                    </a:lnTo>
                    <a:cubicBezTo>
                      <a:pt x="404341" y="0"/>
                      <a:pt x="439641" y="35300"/>
                      <a:pt x="439641" y="78845"/>
                    </a:cubicBezTo>
                    <a:lnTo>
                      <a:pt x="439641" y="173486"/>
                    </a:lnTo>
                    <a:cubicBezTo>
                      <a:pt x="439641" y="217030"/>
                      <a:pt x="404341" y="252330"/>
                      <a:pt x="360796" y="252330"/>
                    </a:cubicBezTo>
                    <a:lnTo>
                      <a:pt x="78845" y="252330"/>
                    </a:lnTo>
                    <a:cubicBezTo>
                      <a:pt x="35300" y="252330"/>
                      <a:pt x="0" y="217030"/>
                      <a:pt x="0" y="173486"/>
                    </a:cubicBezTo>
                    <a:lnTo>
                      <a:pt x="0" y="78845"/>
                    </a:lnTo>
                    <a:cubicBezTo>
                      <a:pt x="0" y="35300"/>
                      <a:pt x="35300" y="0"/>
                      <a:pt x="78845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439641" cy="271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9"/>
                  </a:lnSpc>
                </a:pPr>
                <a:r>
                  <a:rPr lang="en-US" b="true" sz="2349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Dense(16, ReLU)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8358478" y="56043"/>
              <a:ext cx="2129633" cy="1277422"/>
              <a:chOff x="0" y="0"/>
              <a:chExt cx="420668" cy="25233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20668" cy="252330"/>
              </a:xfrm>
              <a:custGeom>
                <a:avLst/>
                <a:gdLst/>
                <a:ahLst/>
                <a:cxnLst/>
                <a:rect r="r" b="b" t="t" l="l"/>
                <a:pathLst>
                  <a:path h="252330" w="420668">
                    <a:moveTo>
                      <a:pt x="82401" y="0"/>
                    </a:moveTo>
                    <a:lnTo>
                      <a:pt x="338267" y="0"/>
                    </a:lnTo>
                    <a:cubicBezTo>
                      <a:pt x="360122" y="0"/>
                      <a:pt x="381080" y="8681"/>
                      <a:pt x="396534" y="24135"/>
                    </a:cubicBezTo>
                    <a:cubicBezTo>
                      <a:pt x="411987" y="39588"/>
                      <a:pt x="420668" y="60547"/>
                      <a:pt x="420668" y="82401"/>
                    </a:cubicBezTo>
                    <a:lnTo>
                      <a:pt x="420668" y="169930"/>
                    </a:lnTo>
                    <a:cubicBezTo>
                      <a:pt x="420668" y="191784"/>
                      <a:pt x="411987" y="212743"/>
                      <a:pt x="396534" y="228196"/>
                    </a:cubicBezTo>
                    <a:cubicBezTo>
                      <a:pt x="381080" y="243649"/>
                      <a:pt x="360122" y="252330"/>
                      <a:pt x="338267" y="252330"/>
                    </a:cubicBezTo>
                    <a:lnTo>
                      <a:pt x="82401" y="252330"/>
                    </a:lnTo>
                    <a:cubicBezTo>
                      <a:pt x="60547" y="252330"/>
                      <a:pt x="39588" y="243649"/>
                      <a:pt x="24135" y="228196"/>
                    </a:cubicBezTo>
                    <a:cubicBezTo>
                      <a:pt x="8681" y="212743"/>
                      <a:pt x="0" y="191784"/>
                      <a:pt x="0" y="169930"/>
                    </a:cubicBezTo>
                    <a:lnTo>
                      <a:pt x="0" y="82401"/>
                    </a:lnTo>
                    <a:cubicBezTo>
                      <a:pt x="0" y="60547"/>
                      <a:pt x="8681" y="39588"/>
                      <a:pt x="24135" y="24135"/>
                    </a:cubicBezTo>
                    <a:cubicBezTo>
                      <a:pt x="39588" y="8681"/>
                      <a:pt x="60547" y="0"/>
                      <a:pt x="82401" y="0"/>
                    </a:cubicBezTo>
                    <a:close/>
                  </a:path>
                </a:pathLst>
              </a:custGeom>
              <a:solidFill>
                <a:srgbClr val="022EAA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420668" cy="2713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19"/>
                  </a:lnSpc>
                </a:pPr>
                <a:r>
                  <a:rPr lang="en-US" b="true" sz="2349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Output: Dense(1)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2671880" y="5439388"/>
            <a:ext cx="3879423" cy="1000099"/>
            <a:chOff x="0" y="0"/>
            <a:chExt cx="1021741" cy="2634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1741" cy="263401"/>
            </a:xfrm>
            <a:custGeom>
              <a:avLst/>
              <a:gdLst/>
              <a:ahLst/>
              <a:cxnLst/>
              <a:rect r="r" b="b" t="t" l="l"/>
              <a:pathLst>
                <a:path h="263401" w="1021741">
                  <a:moveTo>
                    <a:pt x="33926" y="0"/>
                  </a:moveTo>
                  <a:lnTo>
                    <a:pt x="987815" y="0"/>
                  </a:lnTo>
                  <a:cubicBezTo>
                    <a:pt x="1006552" y="0"/>
                    <a:pt x="1021741" y="15189"/>
                    <a:pt x="1021741" y="33926"/>
                  </a:cubicBezTo>
                  <a:lnTo>
                    <a:pt x="1021741" y="229475"/>
                  </a:lnTo>
                  <a:cubicBezTo>
                    <a:pt x="1021741" y="248211"/>
                    <a:pt x="1006552" y="263401"/>
                    <a:pt x="987815" y="263401"/>
                  </a:cubicBezTo>
                  <a:lnTo>
                    <a:pt x="33926" y="263401"/>
                  </a:lnTo>
                  <a:cubicBezTo>
                    <a:pt x="15189" y="263401"/>
                    <a:pt x="0" y="248211"/>
                    <a:pt x="0" y="229475"/>
                  </a:cubicBezTo>
                  <a:lnTo>
                    <a:pt x="0" y="33926"/>
                  </a:lnTo>
                  <a:cubicBezTo>
                    <a:pt x="0" y="15189"/>
                    <a:pt x="15189" y="0"/>
                    <a:pt x="33926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21741" cy="282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LSTM(64, return_sequences=True)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10475" y="5439388"/>
            <a:ext cx="2127741" cy="958067"/>
            <a:chOff x="0" y="0"/>
            <a:chExt cx="560393" cy="2523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0393" cy="252330"/>
            </a:xfrm>
            <a:custGeom>
              <a:avLst/>
              <a:gdLst/>
              <a:ahLst/>
              <a:cxnLst/>
              <a:rect r="r" b="b" t="t" l="l"/>
              <a:pathLst>
                <a:path h="252330" w="560393">
                  <a:moveTo>
                    <a:pt x="61856" y="0"/>
                  </a:moveTo>
                  <a:lnTo>
                    <a:pt x="498537" y="0"/>
                  </a:lnTo>
                  <a:cubicBezTo>
                    <a:pt x="514942" y="0"/>
                    <a:pt x="530675" y="6517"/>
                    <a:pt x="542276" y="18117"/>
                  </a:cubicBezTo>
                  <a:cubicBezTo>
                    <a:pt x="553876" y="29717"/>
                    <a:pt x="560393" y="45450"/>
                    <a:pt x="560393" y="61856"/>
                  </a:cubicBezTo>
                  <a:lnTo>
                    <a:pt x="560393" y="190475"/>
                  </a:lnTo>
                  <a:cubicBezTo>
                    <a:pt x="560393" y="224637"/>
                    <a:pt x="532699" y="252330"/>
                    <a:pt x="498537" y="252330"/>
                  </a:cubicBezTo>
                  <a:lnTo>
                    <a:pt x="61856" y="252330"/>
                  </a:lnTo>
                  <a:cubicBezTo>
                    <a:pt x="45450" y="252330"/>
                    <a:pt x="29717" y="245813"/>
                    <a:pt x="18117" y="234213"/>
                  </a:cubicBezTo>
                  <a:cubicBezTo>
                    <a:pt x="6517" y="222613"/>
                    <a:pt x="0" y="206880"/>
                    <a:pt x="0" y="190475"/>
                  </a:cubicBezTo>
                  <a:lnTo>
                    <a:pt x="0" y="61856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6" y="0"/>
                  </a:cubicBezTo>
                  <a:close/>
                </a:path>
              </a:pathLst>
            </a:custGeom>
            <a:solidFill>
              <a:srgbClr val="022EAA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60393" cy="27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9"/>
                </a:lnSpc>
                <a:spcBef>
                  <a:spcPct val="0"/>
                </a:spcBef>
              </a:pP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Dropout(0.3)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97388" y="5509995"/>
            <a:ext cx="1931384" cy="887459"/>
            <a:chOff x="0" y="0"/>
            <a:chExt cx="508677" cy="2337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677" cy="233734"/>
            </a:xfrm>
            <a:custGeom>
              <a:avLst/>
              <a:gdLst/>
              <a:ahLst/>
              <a:cxnLst/>
              <a:rect r="r" b="b" t="t" l="l"/>
              <a:pathLst>
                <a:path h="233734" w="508677">
                  <a:moveTo>
                    <a:pt x="68144" y="0"/>
                  </a:moveTo>
                  <a:lnTo>
                    <a:pt x="440533" y="0"/>
                  </a:lnTo>
                  <a:cubicBezTo>
                    <a:pt x="478168" y="0"/>
                    <a:pt x="508677" y="30509"/>
                    <a:pt x="508677" y="68144"/>
                  </a:cubicBezTo>
                  <a:lnTo>
                    <a:pt x="508677" y="165590"/>
                  </a:lnTo>
                  <a:cubicBezTo>
                    <a:pt x="508677" y="203225"/>
                    <a:pt x="478168" y="233734"/>
                    <a:pt x="440533" y="233734"/>
                  </a:cubicBezTo>
                  <a:lnTo>
                    <a:pt x="68144" y="233734"/>
                  </a:lnTo>
                  <a:cubicBezTo>
                    <a:pt x="30509" y="233734"/>
                    <a:pt x="0" y="203225"/>
                    <a:pt x="0" y="165590"/>
                  </a:cubicBezTo>
                  <a:lnTo>
                    <a:pt x="0" y="68144"/>
                  </a:lnTo>
                  <a:cubicBezTo>
                    <a:pt x="0" y="30509"/>
                    <a:pt x="30509" y="0"/>
                    <a:pt x="68144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08677" cy="2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LSTM(32)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385947" y="5439388"/>
            <a:ext cx="1669262" cy="958067"/>
            <a:chOff x="0" y="0"/>
            <a:chExt cx="439641" cy="2523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9641" cy="252330"/>
            </a:xfrm>
            <a:custGeom>
              <a:avLst/>
              <a:gdLst/>
              <a:ahLst/>
              <a:cxnLst/>
              <a:rect r="r" b="b" t="t" l="l"/>
              <a:pathLst>
                <a:path h="252330" w="439641">
                  <a:moveTo>
                    <a:pt x="78845" y="0"/>
                  </a:moveTo>
                  <a:lnTo>
                    <a:pt x="360796" y="0"/>
                  </a:lnTo>
                  <a:cubicBezTo>
                    <a:pt x="404341" y="0"/>
                    <a:pt x="439641" y="35300"/>
                    <a:pt x="439641" y="78845"/>
                  </a:cubicBezTo>
                  <a:lnTo>
                    <a:pt x="439641" y="173486"/>
                  </a:lnTo>
                  <a:cubicBezTo>
                    <a:pt x="439641" y="217030"/>
                    <a:pt x="404341" y="252330"/>
                    <a:pt x="360796" y="252330"/>
                  </a:cubicBezTo>
                  <a:lnTo>
                    <a:pt x="78845" y="252330"/>
                  </a:lnTo>
                  <a:cubicBezTo>
                    <a:pt x="35300" y="252330"/>
                    <a:pt x="0" y="217030"/>
                    <a:pt x="0" y="173486"/>
                  </a:cubicBezTo>
                  <a:lnTo>
                    <a:pt x="0" y="78845"/>
                  </a:lnTo>
                  <a:cubicBezTo>
                    <a:pt x="0" y="35300"/>
                    <a:pt x="35300" y="0"/>
                    <a:pt x="78845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39641" cy="27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Dense(16, ReLU)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300125" y="5439388"/>
            <a:ext cx="1597225" cy="958067"/>
            <a:chOff x="0" y="0"/>
            <a:chExt cx="420668" cy="2523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0668" cy="252330"/>
            </a:xfrm>
            <a:custGeom>
              <a:avLst/>
              <a:gdLst/>
              <a:ahLst/>
              <a:cxnLst/>
              <a:rect r="r" b="b" t="t" l="l"/>
              <a:pathLst>
                <a:path h="252330" w="420668">
                  <a:moveTo>
                    <a:pt x="82401" y="0"/>
                  </a:moveTo>
                  <a:lnTo>
                    <a:pt x="338267" y="0"/>
                  </a:lnTo>
                  <a:cubicBezTo>
                    <a:pt x="360122" y="0"/>
                    <a:pt x="381080" y="8681"/>
                    <a:pt x="396534" y="24135"/>
                  </a:cubicBezTo>
                  <a:cubicBezTo>
                    <a:pt x="411987" y="39588"/>
                    <a:pt x="420668" y="60547"/>
                    <a:pt x="420668" y="82401"/>
                  </a:cubicBezTo>
                  <a:lnTo>
                    <a:pt x="420668" y="169930"/>
                  </a:lnTo>
                  <a:cubicBezTo>
                    <a:pt x="420668" y="191784"/>
                    <a:pt x="411987" y="212743"/>
                    <a:pt x="396534" y="228196"/>
                  </a:cubicBezTo>
                  <a:cubicBezTo>
                    <a:pt x="381080" y="243649"/>
                    <a:pt x="360122" y="252330"/>
                    <a:pt x="338267" y="252330"/>
                  </a:cubicBezTo>
                  <a:lnTo>
                    <a:pt x="82401" y="252330"/>
                  </a:lnTo>
                  <a:cubicBezTo>
                    <a:pt x="60547" y="252330"/>
                    <a:pt x="39588" y="243649"/>
                    <a:pt x="24135" y="228196"/>
                  </a:cubicBezTo>
                  <a:cubicBezTo>
                    <a:pt x="8681" y="212743"/>
                    <a:pt x="0" y="191784"/>
                    <a:pt x="0" y="169930"/>
                  </a:cubicBezTo>
                  <a:lnTo>
                    <a:pt x="0" y="82401"/>
                  </a:lnTo>
                  <a:cubicBezTo>
                    <a:pt x="0" y="60547"/>
                    <a:pt x="8681" y="39588"/>
                    <a:pt x="24135" y="24135"/>
                  </a:cubicBezTo>
                  <a:cubicBezTo>
                    <a:pt x="39588" y="8681"/>
                    <a:pt x="60547" y="0"/>
                    <a:pt x="82401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20668" cy="27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Output: Dense(1)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12384" y="5439388"/>
            <a:ext cx="1669262" cy="958067"/>
            <a:chOff x="0" y="0"/>
            <a:chExt cx="439641" cy="2523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9641" cy="252330"/>
            </a:xfrm>
            <a:custGeom>
              <a:avLst/>
              <a:gdLst/>
              <a:ahLst/>
              <a:cxnLst/>
              <a:rect r="r" b="b" t="t" l="l"/>
              <a:pathLst>
                <a:path h="252330" w="439641">
                  <a:moveTo>
                    <a:pt x="78845" y="0"/>
                  </a:moveTo>
                  <a:lnTo>
                    <a:pt x="360796" y="0"/>
                  </a:lnTo>
                  <a:cubicBezTo>
                    <a:pt x="404341" y="0"/>
                    <a:pt x="439641" y="35300"/>
                    <a:pt x="439641" y="78845"/>
                  </a:cubicBezTo>
                  <a:lnTo>
                    <a:pt x="439641" y="173486"/>
                  </a:lnTo>
                  <a:cubicBezTo>
                    <a:pt x="439641" y="217030"/>
                    <a:pt x="404341" y="252330"/>
                    <a:pt x="360796" y="252330"/>
                  </a:cubicBezTo>
                  <a:lnTo>
                    <a:pt x="78845" y="252330"/>
                  </a:lnTo>
                  <a:cubicBezTo>
                    <a:pt x="35300" y="252330"/>
                    <a:pt x="0" y="217030"/>
                    <a:pt x="0" y="173486"/>
                  </a:cubicBezTo>
                  <a:lnTo>
                    <a:pt x="0" y="78845"/>
                  </a:lnTo>
                  <a:cubicBezTo>
                    <a:pt x="0" y="35300"/>
                    <a:pt x="35300" y="0"/>
                    <a:pt x="78845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39641" cy="27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Dropout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61625"/>
            <a:chOff x="0" y="0"/>
            <a:chExt cx="24384000" cy="19488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48847"/>
            </a:xfrm>
            <a:custGeom>
              <a:avLst/>
              <a:gdLst/>
              <a:ahLst/>
              <a:cxnLst/>
              <a:rect r="r" b="b" t="t" l="l"/>
              <a:pathLst>
                <a:path h="19488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48847"/>
                  </a:lnTo>
                  <a:lnTo>
                    <a:pt x="0" y="1948847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4758" y="240275"/>
            <a:ext cx="658891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Modeling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566" y="933450"/>
            <a:ext cx="17608871" cy="941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▪ Encoder–Decoder with</a:t>
            </a: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Attention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multi-step forecasting architecture.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Arc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hitecture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model captures the temporal structure of past sequences and uses learned attention to highlight critical time points when generating multi-step forecasts.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4199"/>
              </a:lnSpc>
            </a:pPr>
            <a:r>
              <a:rPr lang="en-US" sz="3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▪ Temporal Fusion Transformer (TFT)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hybrid static–dynamic attention-based model.</a:t>
            </a: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static store information with dynamic weekly patterns using temporal attention mechanisms to extract richer dependencies.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48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204326" y="2366754"/>
            <a:ext cx="3958754" cy="1319805"/>
            <a:chOff x="0" y="0"/>
            <a:chExt cx="1042635" cy="3476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2635" cy="347603"/>
            </a:xfrm>
            <a:custGeom>
              <a:avLst/>
              <a:gdLst/>
              <a:ahLst/>
              <a:cxnLst/>
              <a:rect r="r" b="b" t="t" l="l"/>
              <a:pathLst>
                <a:path h="347603" w="1042635">
                  <a:moveTo>
                    <a:pt x="33246" y="0"/>
                  </a:moveTo>
                  <a:lnTo>
                    <a:pt x="1009389" y="0"/>
                  </a:lnTo>
                  <a:cubicBezTo>
                    <a:pt x="1027750" y="0"/>
                    <a:pt x="1042635" y="14885"/>
                    <a:pt x="1042635" y="33246"/>
                  </a:cubicBezTo>
                  <a:lnTo>
                    <a:pt x="1042635" y="314357"/>
                  </a:lnTo>
                  <a:cubicBezTo>
                    <a:pt x="1042635" y="323175"/>
                    <a:pt x="1039132" y="331631"/>
                    <a:pt x="1032897" y="337866"/>
                  </a:cubicBezTo>
                  <a:cubicBezTo>
                    <a:pt x="1026662" y="344100"/>
                    <a:pt x="1018206" y="347603"/>
                    <a:pt x="1009389" y="347603"/>
                  </a:cubicBezTo>
                  <a:lnTo>
                    <a:pt x="33246" y="347603"/>
                  </a:lnTo>
                  <a:cubicBezTo>
                    <a:pt x="24429" y="347603"/>
                    <a:pt x="15972" y="344100"/>
                    <a:pt x="9738" y="337866"/>
                  </a:cubicBezTo>
                  <a:cubicBezTo>
                    <a:pt x="3503" y="331631"/>
                    <a:pt x="0" y="323175"/>
                    <a:pt x="0" y="314357"/>
                  </a:cubicBezTo>
                  <a:lnTo>
                    <a:pt x="0" y="33246"/>
                  </a:lnTo>
                  <a:cubicBezTo>
                    <a:pt x="0" y="24429"/>
                    <a:pt x="3503" y="15972"/>
                    <a:pt x="9738" y="9738"/>
                  </a:cubicBezTo>
                  <a:cubicBezTo>
                    <a:pt x="15972" y="3503"/>
                    <a:pt x="24429" y="0"/>
                    <a:pt x="33246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042635" cy="366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Attention Layer: </a:t>
              </a:r>
              <a:r>
                <a:rPr lang="en-US" sz="23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Computes context weights across encoded time steps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660999" y="6397454"/>
            <a:ext cx="2396660" cy="1300643"/>
            <a:chOff x="0" y="0"/>
            <a:chExt cx="631219" cy="342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1219" cy="342556"/>
            </a:xfrm>
            <a:custGeom>
              <a:avLst/>
              <a:gdLst/>
              <a:ahLst/>
              <a:cxnLst/>
              <a:rect r="r" b="b" t="t" l="l"/>
              <a:pathLst>
                <a:path h="342556" w="631219">
                  <a:moveTo>
                    <a:pt x="54915" y="0"/>
                  </a:moveTo>
                  <a:lnTo>
                    <a:pt x="576304" y="0"/>
                  </a:lnTo>
                  <a:cubicBezTo>
                    <a:pt x="606633" y="0"/>
                    <a:pt x="631219" y="24586"/>
                    <a:pt x="631219" y="54915"/>
                  </a:cubicBezTo>
                  <a:lnTo>
                    <a:pt x="631219" y="287641"/>
                  </a:lnTo>
                  <a:cubicBezTo>
                    <a:pt x="631219" y="317970"/>
                    <a:pt x="606633" y="342556"/>
                    <a:pt x="576304" y="342556"/>
                  </a:cubicBezTo>
                  <a:lnTo>
                    <a:pt x="54915" y="342556"/>
                  </a:lnTo>
                  <a:cubicBezTo>
                    <a:pt x="40351" y="342556"/>
                    <a:pt x="26383" y="336770"/>
                    <a:pt x="16084" y="326472"/>
                  </a:cubicBezTo>
                  <a:cubicBezTo>
                    <a:pt x="5786" y="316173"/>
                    <a:pt x="0" y="302205"/>
                    <a:pt x="0" y="287641"/>
                  </a:cubicBezTo>
                  <a:lnTo>
                    <a:pt x="0" y="54915"/>
                  </a:lnTo>
                  <a:cubicBezTo>
                    <a:pt x="0" y="24586"/>
                    <a:pt x="24586" y="0"/>
                    <a:pt x="54915" y="0"/>
                  </a:cubicBezTo>
                  <a:close/>
                </a:path>
              </a:pathLst>
            </a:custGeom>
            <a:solidFill>
              <a:srgbClr val="022EA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31219" cy="3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9"/>
                </a:lnSpc>
                <a:spcBef>
                  <a:spcPct val="0"/>
                </a:spcBef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Static c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ntext netw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rk 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Dense layers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309559" y="6397454"/>
            <a:ext cx="2644117" cy="1300643"/>
            <a:chOff x="0" y="0"/>
            <a:chExt cx="696393" cy="342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6393" cy="342556"/>
            </a:xfrm>
            <a:custGeom>
              <a:avLst/>
              <a:gdLst/>
              <a:ahLst/>
              <a:cxnLst/>
              <a:rect r="r" b="b" t="t" l="l"/>
              <a:pathLst>
                <a:path h="342556" w="696393">
                  <a:moveTo>
                    <a:pt x="49776" y="0"/>
                  </a:moveTo>
                  <a:lnTo>
                    <a:pt x="646617" y="0"/>
                  </a:lnTo>
                  <a:cubicBezTo>
                    <a:pt x="674107" y="0"/>
                    <a:pt x="696393" y="22285"/>
                    <a:pt x="696393" y="49776"/>
                  </a:cubicBezTo>
                  <a:lnTo>
                    <a:pt x="696393" y="292780"/>
                  </a:lnTo>
                  <a:cubicBezTo>
                    <a:pt x="696393" y="320271"/>
                    <a:pt x="674107" y="342556"/>
                    <a:pt x="646617" y="342556"/>
                  </a:cubicBezTo>
                  <a:lnTo>
                    <a:pt x="49776" y="342556"/>
                  </a:lnTo>
                  <a:cubicBezTo>
                    <a:pt x="22285" y="342556"/>
                    <a:pt x="0" y="320271"/>
                    <a:pt x="0" y="292780"/>
                  </a:cubicBezTo>
                  <a:lnTo>
                    <a:pt x="0" y="49776"/>
                  </a:lnTo>
                  <a:cubicBezTo>
                    <a:pt x="0" y="22285"/>
                    <a:pt x="22285" y="0"/>
                    <a:pt x="49776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96393" cy="3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Dynamic sequence encoder (LSTM)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01326" y="6397454"/>
            <a:ext cx="2220321" cy="1300643"/>
            <a:chOff x="0" y="0"/>
            <a:chExt cx="584776" cy="342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4776" cy="342556"/>
            </a:xfrm>
            <a:custGeom>
              <a:avLst/>
              <a:gdLst/>
              <a:ahLst/>
              <a:cxnLst/>
              <a:rect r="r" b="b" t="t" l="l"/>
              <a:pathLst>
                <a:path h="342556" w="584776">
                  <a:moveTo>
                    <a:pt x="59276" y="0"/>
                  </a:moveTo>
                  <a:lnTo>
                    <a:pt x="525499" y="0"/>
                  </a:lnTo>
                  <a:cubicBezTo>
                    <a:pt x="541221" y="0"/>
                    <a:pt x="556298" y="6245"/>
                    <a:pt x="567414" y="17362"/>
                  </a:cubicBezTo>
                  <a:cubicBezTo>
                    <a:pt x="578531" y="28478"/>
                    <a:pt x="584776" y="43555"/>
                    <a:pt x="584776" y="59276"/>
                  </a:cubicBezTo>
                  <a:lnTo>
                    <a:pt x="584776" y="283280"/>
                  </a:lnTo>
                  <a:cubicBezTo>
                    <a:pt x="584776" y="299001"/>
                    <a:pt x="578531" y="314078"/>
                    <a:pt x="567414" y="325194"/>
                  </a:cubicBezTo>
                  <a:cubicBezTo>
                    <a:pt x="556298" y="336311"/>
                    <a:pt x="541221" y="342556"/>
                    <a:pt x="525499" y="342556"/>
                  </a:cubicBezTo>
                  <a:lnTo>
                    <a:pt x="59276" y="342556"/>
                  </a:lnTo>
                  <a:cubicBezTo>
                    <a:pt x="43555" y="342556"/>
                    <a:pt x="28478" y="336311"/>
                    <a:pt x="17362" y="325194"/>
                  </a:cubicBezTo>
                  <a:cubicBezTo>
                    <a:pt x="6245" y="314078"/>
                    <a:pt x="0" y="299001"/>
                    <a:pt x="0" y="283280"/>
                  </a:cubicBezTo>
                  <a:lnTo>
                    <a:pt x="0" y="59276"/>
                  </a:lnTo>
                  <a:cubicBezTo>
                    <a:pt x="0" y="43555"/>
                    <a:pt x="6245" y="28478"/>
                    <a:pt x="17362" y="17362"/>
                  </a:cubicBezTo>
                  <a:cubicBezTo>
                    <a:pt x="28478" y="6245"/>
                    <a:pt x="43555" y="0"/>
                    <a:pt x="59276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84776" cy="3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Multi-Head Attention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71717" y="6397454"/>
            <a:ext cx="2341755" cy="1300643"/>
            <a:chOff x="0" y="0"/>
            <a:chExt cx="616758" cy="342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758" cy="342556"/>
            </a:xfrm>
            <a:custGeom>
              <a:avLst/>
              <a:gdLst/>
              <a:ahLst/>
              <a:cxnLst/>
              <a:rect r="r" b="b" t="t" l="l"/>
              <a:pathLst>
                <a:path h="342556" w="616758">
                  <a:moveTo>
                    <a:pt x="56203" y="0"/>
                  </a:moveTo>
                  <a:lnTo>
                    <a:pt x="560556" y="0"/>
                  </a:lnTo>
                  <a:cubicBezTo>
                    <a:pt x="575462" y="0"/>
                    <a:pt x="589757" y="5921"/>
                    <a:pt x="600297" y="16461"/>
                  </a:cubicBezTo>
                  <a:cubicBezTo>
                    <a:pt x="610837" y="27001"/>
                    <a:pt x="616758" y="41297"/>
                    <a:pt x="616758" y="56203"/>
                  </a:cubicBezTo>
                  <a:lnTo>
                    <a:pt x="616758" y="286354"/>
                  </a:lnTo>
                  <a:cubicBezTo>
                    <a:pt x="616758" y="301259"/>
                    <a:pt x="610837" y="315555"/>
                    <a:pt x="600297" y="326095"/>
                  </a:cubicBezTo>
                  <a:cubicBezTo>
                    <a:pt x="589757" y="336635"/>
                    <a:pt x="575462" y="342556"/>
                    <a:pt x="560556" y="342556"/>
                  </a:cubicBezTo>
                  <a:lnTo>
                    <a:pt x="56203" y="342556"/>
                  </a:lnTo>
                  <a:cubicBezTo>
                    <a:pt x="41297" y="342556"/>
                    <a:pt x="27001" y="336635"/>
                    <a:pt x="16461" y="326095"/>
                  </a:cubicBezTo>
                  <a:cubicBezTo>
                    <a:pt x="5921" y="315555"/>
                    <a:pt x="0" y="301259"/>
                    <a:pt x="0" y="286354"/>
                  </a:cubicBezTo>
                  <a:lnTo>
                    <a:pt x="0" y="56203"/>
                  </a:lnTo>
                  <a:cubicBezTo>
                    <a:pt x="0" y="41297"/>
                    <a:pt x="5921" y="27001"/>
                    <a:pt x="16461" y="16461"/>
                  </a:cubicBezTo>
                  <a:cubicBezTo>
                    <a:pt x="27001" y="5921"/>
                    <a:pt x="41297" y="0"/>
                    <a:pt x="56203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16758" cy="3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Residual connections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9297" y="6397454"/>
            <a:ext cx="2354770" cy="1300643"/>
            <a:chOff x="0" y="0"/>
            <a:chExt cx="620186" cy="342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0186" cy="342556"/>
            </a:xfrm>
            <a:custGeom>
              <a:avLst/>
              <a:gdLst/>
              <a:ahLst/>
              <a:cxnLst/>
              <a:rect r="r" b="b" t="t" l="l"/>
              <a:pathLst>
                <a:path h="342556" w="620186">
                  <a:moveTo>
                    <a:pt x="55892" y="0"/>
                  </a:moveTo>
                  <a:lnTo>
                    <a:pt x="564294" y="0"/>
                  </a:lnTo>
                  <a:cubicBezTo>
                    <a:pt x="595163" y="0"/>
                    <a:pt x="620186" y="25024"/>
                    <a:pt x="620186" y="55892"/>
                  </a:cubicBezTo>
                  <a:lnTo>
                    <a:pt x="620186" y="286664"/>
                  </a:lnTo>
                  <a:cubicBezTo>
                    <a:pt x="620186" y="317532"/>
                    <a:pt x="595163" y="342556"/>
                    <a:pt x="564294" y="342556"/>
                  </a:cubicBezTo>
                  <a:lnTo>
                    <a:pt x="55892" y="342556"/>
                  </a:lnTo>
                  <a:cubicBezTo>
                    <a:pt x="25024" y="342556"/>
                    <a:pt x="0" y="317532"/>
                    <a:pt x="0" y="286664"/>
                  </a:cubicBezTo>
                  <a:lnTo>
                    <a:pt x="0" y="55892"/>
                  </a:lnTo>
                  <a:cubicBezTo>
                    <a:pt x="0" y="25024"/>
                    <a:pt x="25024" y="0"/>
                    <a:pt x="55892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20186" cy="3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Gating mechanisms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41451" y="2404854"/>
            <a:ext cx="3112128" cy="1319805"/>
            <a:chOff x="0" y="0"/>
            <a:chExt cx="819655" cy="3476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9655" cy="347603"/>
            </a:xfrm>
            <a:custGeom>
              <a:avLst/>
              <a:gdLst/>
              <a:ahLst/>
              <a:cxnLst/>
              <a:rect r="r" b="b" t="t" l="l"/>
              <a:pathLst>
                <a:path h="347603" w="819655">
                  <a:moveTo>
                    <a:pt x="42290" y="0"/>
                  </a:moveTo>
                  <a:lnTo>
                    <a:pt x="777365" y="0"/>
                  </a:lnTo>
                  <a:cubicBezTo>
                    <a:pt x="788581" y="0"/>
                    <a:pt x="799338" y="4456"/>
                    <a:pt x="807269" y="12387"/>
                  </a:cubicBezTo>
                  <a:cubicBezTo>
                    <a:pt x="815200" y="20317"/>
                    <a:pt x="819655" y="31074"/>
                    <a:pt x="819655" y="42290"/>
                  </a:cubicBezTo>
                  <a:lnTo>
                    <a:pt x="819655" y="305313"/>
                  </a:lnTo>
                  <a:cubicBezTo>
                    <a:pt x="819655" y="316529"/>
                    <a:pt x="815200" y="327286"/>
                    <a:pt x="807269" y="335217"/>
                  </a:cubicBezTo>
                  <a:cubicBezTo>
                    <a:pt x="799338" y="343148"/>
                    <a:pt x="788581" y="347603"/>
                    <a:pt x="777365" y="347603"/>
                  </a:cubicBezTo>
                  <a:lnTo>
                    <a:pt x="42290" y="347603"/>
                  </a:lnTo>
                  <a:cubicBezTo>
                    <a:pt x="31074" y="347603"/>
                    <a:pt x="20317" y="343148"/>
                    <a:pt x="12387" y="335217"/>
                  </a:cubicBezTo>
                  <a:cubicBezTo>
                    <a:pt x="4456" y="327286"/>
                    <a:pt x="0" y="316529"/>
                    <a:pt x="0" y="305313"/>
                  </a:cubicBezTo>
                  <a:lnTo>
                    <a:pt x="0" y="42290"/>
                  </a:lnTo>
                  <a:cubicBezTo>
                    <a:pt x="0" y="31074"/>
                    <a:pt x="4456" y="20317"/>
                    <a:pt x="12387" y="12387"/>
                  </a:cubicBezTo>
                  <a:cubicBezTo>
                    <a:pt x="20317" y="4456"/>
                    <a:pt x="31074" y="0"/>
                    <a:pt x="42290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19655" cy="366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Encoder: </a:t>
              </a:r>
              <a:r>
                <a:rPr lang="en-US" sz="23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Two stacked LSTM layers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21647" y="2376279"/>
            <a:ext cx="3725368" cy="1319805"/>
            <a:chOff x="0" y="0"/>
            <a:chExt cx="981167" cy="3476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1167" cy="347603"/>
            </a:xfrm>
            <a:custGeom>
              <a:avLst/>
              <a:gdLst/>
              <a:ahLst/>
              <a:cxnLst/>
              <a:rect r="r" b="b" t="t" l="l"/>
              <a:pathLst>
                <a:path h="347603" w="981167">
                  <a:moveTo>
                    <a:pt x="35329" y="0"/>
                  </a:moveTo>
                  <a:lnTo>
                    <a:pt x="945838" y="0"/>
                  </a:lnTo>
                  <a:cubicBezTo>
                    <a:pt x="955208" y="0"/>
                    <a:pt x="964194" y="3722"/>
                    <a:pt x="970819" y="10348"/>
                  </a:cubicBezTo>
                  <a:cubicBezTo>
                    <a:pt x="977445" y="16973"/>
                    <a:pt x="981167" y="25959"/>
                    <a:pt x="981167" y="35329"/>
                  </a:cubicBezTo>
                  <a:lnTo>
                    <a:pt x="981167" y="312274"/>
                  </a:lnTo>
                  <a:cubicBezTo>
                    <a:pt x="981167" y="321644"/>
                    <a:pt x="977445" y="330630"/>
                    <a:pt x="970819" y="337256"/>
                  </a:cubicBezTo>
                  <a:cubicBezTo>
                    <a:pt x="964194" y="343881"/>
                    <a:pt x="955208" y="347603"/>
                    <a:pt x="945838" y="347603"/>
                  </a:cubicBezTo>
                  <a:lnTo>
                    <a:pt x="35329" y="347603"/>
                  </a:lnTo>
                  <a:cubicBezTo>
                    <a:pt x="25959" y="347603"/>
                    <a:pt x="16973" y="343881"/>
                    <a:pt x="10348" y="337256"/>
                  </a:cubicBezTo>
                  <a:cubicBezTo>
                    <a:pt x="3722" y="330630"/>
                    <a:pt x="0" y="321644"/>
                    <a:pt x="0" y="312274"/>
                  </a:cubicBezTo>
                  <a:lnTo>
                    <a:pt x="0" y="35329"/>
                  </a:lnTo>
                  <a:cubicBezTo>
                    <a:pt x="0" y="25959"/>
                    <a:pt x="3722" y="16973"/>
                    <a:pt x="10348" y="10348"/>
                  </a:cubicBezTo>
                  <a:cubicBezTo>
                    <a:pt x="16973" y="3722"/>
                    <a:pt x="25959" y="0"/>
                    <a:pt x="35329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81167" cy="366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Decoder: </a:t>
              </a:r>
              <a:r>
                <a:rPr lang="en-US" sz="23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LSTM repeated across prediction horizon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04189" y="2366754"/>
            <a:ext cx="3725368" cy="1319805"/>
            <a:chOff x="0" y="0"/>
            <a:chExt cx="981167" cy="3476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1167" cy="347603"/>
            </a:xfrm>
            <a:custGeom>
              <a:avLst/>
              <a:gdLst/>
              <a:ahLst/>
              <a:cxnLst/>
              <a:rect r="r" b="b" t="t" l="l"/>
              <a:pathLst>
                <a:path h="347603" w="981167">
                  <a:moveTo>
                    <a:pt x="35329" y="0"/>
                  </a:moveTo>
                  <a:lnTo>
                    <a:pt x="945838" y="0"/>
                  </a:lnTo>
                  <a:cubicBezTo>
                    <a:pt x="955208" y="0"/>
                    <a:pt x="964194" y="3722"/>
                    <a:pt x="970819" y="10348"/>
                  </a:cubicBezTo>
                  <a:cubicBezTo>
                    <a:pt x="977445" y="16973"/>
                    <a:pt x="981167" y="25959"/>
                    <a:pt x="981167" y="35329"/>
                  </a:cubicBezTo>
                  <a:lnTo>
                    <a:pt x="981167" y="312274"/>
                  </a:lnTo>
                  <a:cubicBezTo>
                    <a:pt x="981167" y="321644"/>
                    <a:pt x="977445" y="330630"/>
                    <a:pt x="970819" y="337256"/>
                  </a:cubicBezTo>
                  <a:cubicBezTo>
                    <a:pt x="964194" y="343881"/>
                    <a:pt x="955208" y="347603"/>
                    <a:pt x="945838" y="347603"/>
                  </a:cubicBezTo>
                  <a:lnTo>
                    <a:pt x="35329" y="347603"/>
                  </a:lnTo>
                  <a:cubicBezTo>
                    <a:pt x="25959" y="347603"/>
                    <a:pt x="16973" y="343881"/>
                    <a:pt x="10348" y="337256"/>
                  </a:cubicBezTo>
                  <a:cubicBezTo>
                    <a:pt x="3722" y="330630"/>
                    <a:pt x="0" y="321644"/>
                    <a:pt x="0" y="312274"/>
                  </a:cubicBezTo>
                  <a:lnTo>
                    <a:pt x="0" y="35329"/>
                  </a:lnTo>
                  <a:cubicBezTo>
                    <a:pt x="0" y="25959"/>
                    <a:pt x="3722" y="16973"/>
                    <a:pt x="10348" y="10348"/>
                  </a:cubicBezTo>
                  <a:cubicBezTo>
                    <a:pt x="16973" y="3722"/>
                    <a:pt x="25959" y="0"/>
                    <a:pt x="35329" y="0"/>
                  </a:cubicBezTo>
                  <a:close/>
                </a:path>
              </a:pathLst>
            </a:custGeom>
            <a:solidFill>
              <a:srgbClr val="022EA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81167" cy="366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9"/>
                </a:lnSpc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Output Heads: One dense output for each future step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820696" y="6397454"/>
            <a:ext cx="2127741" cy="1300643"/>
            <a:chOff x="0" y="0"/>
            <a:chExt cx="560393" cy="3425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0393" cy="342556"/>
            </a:xfrm>
            <a:custGeom>
              <a:avLst/>
              <a:gdLst/>
              <a:ahLst/>
              <a:cxnLst/>
              <a:rect r="r" b="b" t="t" l="l"/>
              <a:pathLst>
                <a:path h="342556" w="560393">
                  <a:moveTo>
                    <a:pt x="61856" y="0"/>
                  </a:moveTo>
                  <a:lnTo>
                    <a:pt x="498537" y="0"/>
                  </a:lnTo>
                  <a:cubicBezTo>
                    <a:pt x="514942" y="0"/>
                    <a:pt x="530675" y="6517"/>
                    <a:pt x="542276" y="18117"/>
                  </a:cubicBezTo>
                  <a:cubicBezTo>
                    <a:pt x="553876" y="29717"/>
                    <a:pt x="560393" y="45450"/>
                    <a:pt x="560393" y="61856"/>
                  </a:cubicBezTo>
                  <a:lnTo>
                    <a:pt x="560393" y="280701"/>
                  </a:lnTo>
                  <a:cubicBezTo>
                    <a:pt x="560393" y="314862"/>
                    <a:pt x="532699" y="342556"/>
                    <a:pt x="498537" y="342556"/>
                  </a:cubicBezTo>
                  <a:lnTo>
                    <a:pt x="61856" y="342556"/>
                  </a:lnTo>
                  <a:cubicBezTo>
                    <a:pt x="45450" y="342556"/>
                    <a:pt x="29717" y="336039"/>
                    <a:pt x="18117" y="324439"/>
                  </a:cubicBezTo>
                  <a:cubicBezTo>
                    <a:pt x="6517" y="312839"/>
                    <a:pt x="0" y="297106"/>
                    <a:pt x="0" y="280701"/>
                  </a:cubicBezTo>
                  <a:lnTo>
                    <a:pt x="0" y="61856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6" y="0"/>
                  </a:cubicBezTo>
                  <a:close/>
                </a:path>
              </a:pathLst>
            </a:custGeom>
            <a:solidFill>
              <a:srgbClr val="022EAA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60393" cy="3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9"/>
                </a:lnSpc>
                <a:spcBef>
                  <a:spcPct val="0"/>
                </a:spcBef>
              </a:pPr>
              <a:r>
                <a:rPr lang="en-US" b="true" sz="234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Multi-s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output 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</a:t>
              </a:r>
              <a:r>
                <a:rPr lang="en-US" b="true" sz="2349" strike="noStrike" u="non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393442"/>
            <a:chOff x="0" y="0"/>
            <a:chExt cx="24384000" cy="1857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57936"/>
            </a:xfrm>
            <a:custGeom>
              <a:avLst/>
              <a:gdLst/>
              <a:ahLst/>
              <a:cxnLst/>
              <a:rect r="r" b="b" t="t" l="l"/>
              <a:pathLst>
                <a:path h="18579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57936"/>
                  </a:lnTo>
                  <a:lnTo>
                    <a:pt x="0" y="1857936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8668" y="350862"/>
            <a:ext cx="7433550" cy="87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and Insights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830216" y="2159997"/>
          <a:ext cx="14719449" cy="6813790"/>
        </p:xfrm>
        <a:graphic>
          <a:graphicData uri="http://schemas.openxmlformats.org/drawingml/2006/table">
            <a:tbl>
              <a:tblPr/>
              <a:tblGrid>
                <a:gridCol w="3432627"/>
                <a:gridCol w="3750691"/>
                <a:gridCol w="2599925"/>
                <a:gridCol w="2336280"/>
                <a:gridCol w="2599925"/>
              </a:tblGrid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category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RMAS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XGBoost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Traditional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762.822519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1991.879624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0.989045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Random Forest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Traditional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862.593404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2017.243953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0.988764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Deep Learning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Traditional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1461.178043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2790.475829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0.9785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Linear Regression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Traditional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1731.358884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3855.262632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0.958962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LSTM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Traditional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8007.884234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9115.386394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-0.764117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N-BEATS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Advanced DL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14262.565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18171.8577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-0.12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Full TFT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Advanced DL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15779.8133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19160.9556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-0.2452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088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LSTM EncDec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Advanced DL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15815.372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19184.6592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9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99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-0.2483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5">
                      <a:solidFill>
                        <a:srgbClr val="1134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393442"/>
            <a:chOff x="0" y="0"/>
            <a:chExt cx="24384000" cy="18579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857936"/>
            </a:xfrm>
            <a:custGeom>
              <a:avLst/>
              <a:gdLst/>
              <a:ahLst/>
              <a:cxnLst/>
              <a:rect r="r" b="b" t="t" l="l"/>
              <a:pathLst>
                <a:path h="185793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857936"/>
                  </a:lnTo>
                  <a:lnTo>
                    <a:pt x="0" y="1857936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47643" y="9847382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8668" y="350862"/>
            <a:ext cx="7433550" cy="87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Results and Insights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26593" y="1477162"/>
            <a:ext cx="13634816" cy="8453586"/>
          </a:xfrm>
          <a:custGeom>
            <a:avLst/>
            <a:gdLst/>
            <a:ahLst/>
            <a:cxnLst/>
            <a:rect r="r" b="b" t="t" l="l"/>
            <a:pathLst>
              <a:path h="8453586" w="13634816">
                <a:moveTo>
                  <a:pt x="0" y="0"/>
                </a:moveTo>
                <a:lnTo>
                  <a:pt x="13634816" y="0"/>
                </a:lnTo>
                <a:lnTo>
                  <a:pt x="13634816" y="8453586"/>
                </a:lnTo>
                <a:lnTo>
                  <a:pt x="0" y="845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8403255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1038800" cy="854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Conclusion &amp; Recommendation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789017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022EA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6868014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odeling Strategy &amp; Results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02308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7653573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1038800" cy="844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Website </a:t>
              </a:r>
              <a:r>
                <a:rPr lang="en-US" sz="36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5290226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6139678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Feature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Engineering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14"/>
            </a:xfrm>
            <a:custGeom>
              <a:avLst/>
              <a:gdLst/>
              <a:ahLst/>
              <a:cxnLst/>
              <a:rect r="r" b="b" t="t" l="l"/>
              <a:pathLst>
                <a:path h="1371601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14"/>
                  </a:lnTo>
                  <a:lnTo>
                    <a:pt x="0" y="13716014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5110" r="0" b="7882"/>
          <a:stretch>
            <a:fillRect/>
          </a:stretch>
        </p:blipFill>
        <p:spPr>
          <a:xfrm flipH="false" flipV="false" rot="0">
            <a:off x="1253329" y="1089422"/>
            <a:ext cx="16493550" cy="8072151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57441" y="9514007"/>
            <a:ext cx="324885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440" y="232172"/>
            <a:ext cx="566189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Web</a:t>
            </a: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site &amp; Dashboard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788435"/>
            <a:chOff x="0" y="0"/>
            <a:chExt cx="24384000" cy="23845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84593"/>
            </a:xfrm>
            <a:custGeom>
              <a:avLst/>
              <a:gdLst/>
              <a:ahLst/>
              <a:cxnLst/>
              <a:rect r="r" b="b" t="t" l="l"/>
              <a:pathLst>
                <a:path h="23845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84593"/>
                  </a:lnTo>
                  <a:lnTo>
                    <a:pt x="0" y="2384593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0451" y="580844"/>
            <a:ext cx="23206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82732" y="2087025"/>
            <a:ext cx="10621514" cy="848520"/>
            <a:chOff x="0" y="0"/>
            <a:chExt cx="11038800" cy="881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800" cy="881855"/>
            </a:xfrm>
            <a:custGeom>
              <a:avLst/>
              <a:gdLst/>
              <a:ahLst/>
              <a:cxnLst/>
              <a:rect r="r" b="b" t="t" l="l"/>
              <a:pathLst>
                <a:path h="881855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81855"/>
                  </a:lnTo>
                  <a:lnTo>
                    <a:pt x="0" y="8818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800" cy="900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Team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79232" y="2268811"/>
            <a:ext cx="69278" cy="484948"/>
            <a:chOff x="0" y="0"/>
            <a:chExt cx="72000" cy="5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482732" y="3019713"/>
            <a:ext cx="10621514" cy="785559"/>
            <a:chOff x="0" y="0"/>
            <a:chExt cx="11038800" cy="8164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30798" y="3112800"/>
            <a:ext cx="69278" cy="484949"/>
            <a:chOff x="0" y="0"/>
            <a:chExt cx="72000" cy="504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457808" y="3705123"/>
            <a:ext cx="10621514" cy="785559"/>
            <a:chOff x="0" y="0"/>
            <a:chExt cx="11038800" cy="8164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Project Overview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874" y="3824322"/>
            <a:ext cx="69278" cy="484949"/>
            <a:chOff x="0" y="0"/>
            <a:chExt cx="72000" cy="5040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457808" y="4440775"/>
            <a:ext cx="10621514" cy="785559"/>
            <a:chOff x="0" y="0"/>
            <a:chExt cx="11038800" cy="81642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Dataset Description &amp; Info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05874" y="5376454"/>
            <a:ext cx="69278" cy="484949"/>
            <a:chOff x="0" y="0"/>
            <a:chExt cx="72000" cy="5040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482732" y="8403255"/>
            <a:ext cx="10621514" cy="794843"/>
            <a:chOff x="0" y="0"/>
            <a:chExt cx="11038800" cy="826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38800" cy="826070"/>
            </a:xfrm>
            <a:custGeom>
              <a:avLst/>
              <a:gdLst/>
              <a:ahLst/>
              <a:cxnLst/>
              <a:rect r="r" b="b" t="t" l="l"/>
              <a:pathLst>
                <a:path h="826070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26070"/>
                  </a:lnTo>
                  <a:lnTo>
                    <a:pt x="0" y="826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038800" cy="845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59"/>
                </a:lnSpc>
              </a:pPr>
              <a:r>
                <a:rPr lang="en-US" sz="37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&amp; Recommendation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30798" y="7789017"/>
            <a:ext cx="69278" cy="484948"/>
            <a:chOff x="0" y="0"/>
            <a:chExt cx="72000" cy="50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482732" y="6868014"/>
            <a:ext cx="10621514" cy="785559"/>
            <a:chOff x="0" y="0"/>
            <a:chExt cx="11038800" cy="8164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odeling Strategy &amp; Results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30798" y="7023082"/>
            <a:ext cx="69278" cy="484948"/>
            <a:chOff x="0" y="0"/>
            <a:chExt cx="72000" cy="50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7F7F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2482732" y="7653573"/>
            <a:ext cx="10621514" cy="785559"/>
            <a:chOff x="0" y="0"/>
            <a:chExt cx="11038800" cy="8164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&amp;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130798" y="8558202"/>
            <a:ext cx="69278" cy="484949"/>
            <a:chOff x="0" y="0"/>
            <a:chExt cx="72000" cy="5040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022EA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457808" y="5290226"/>
            <a:ext cx="10621514" cy="785559"/>
            <a:chOff x="0" y="0"/>
            <a:chExt cx="11038800" cy="8164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5874" y="6219047"/>
            <a:ext cx="69278" cy="484948"/>
            <a:chOff x="0" y="0"/>
            <a:chExt cx="72000" cy="50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457808" y="6139678"/>
            <a:ext cx="10621514" cy="785559"/>
            <a:chOff x="0" y="0"/>
            <a:chExt cx="11038800" cy="8164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38800" cy="816421"/>
            </a:xfrm>
            <a:custGeom>
              <a:avLst/>
              <a:gdLst/>
              <a:ahLst/>
              <a:cxnLst/>
              <a:rect r="r" b="b" t="t" l="l"/>
              <a:pathLst>
                <a:path h="816421" w="11038800">
                  <a:moveTo>
                    <a:pt x="0" y="0"/>
                  </a:moveTo>
                  <a:lnTo>
                    <a:pt x="11038800" y="0"/>
                  </a:lnTo>
                  <a:lnTo>
                    <a:pt x="11038800" y="816421"/>
                  </a:lnTo>
                  <a:lnTo>
                    <a:pt x="0" y="816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1038800" cy="8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Feature </a:t>
              </a:r>
              <a:r>
                <a:rPr lang="en-US" sz="3399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Engineering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05874" y="4537871"/>
            <a:ext cx="69278" cy="484949"/>
            <a:chOff x="0" y="0"/>
            <a:chExt cx="72000" cy="5040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09" cy="504063"/>
            </a:xfrm>
            <a:custGeom>
              <a:avLst/>
              <a:gdLst/>
              <a:ahLst/>
              <a:cxnLst/>
              <a:rect r="r" b="b" t="t" l="l"/>
              <a:pathLst>
                <a:path h="504063" w="72009">
                  <a:moveTo>
                    <a:pt x="0" y="0"/>
                  </a:moveTo>
                  <a:lnTo>
                    <a:pt x="72009" y="0"/>
                  </a:lnTo>
                  <a:lnTo>
                    <a:pt x="72009" y="504063"/>
                  </a:lnTo>
                  <a:lnTo>
                    <a:pt x="0" y="504063"/>
                  </a:lnTo>
                  <a:close/>
                </a:path>
              </a:pathLst>
            </a:custGeom>
            <a:solidFill>
              <a:srgbClr val="80808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92684" y="3343275"/>
            <a:ext cx="14995316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39"/>
              </a:lnSpc>
            </a:pPr>
            <a:r>
              <a:rPr lang="en-US" sz="96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 &amp; Recommendation</a:t>
            </a:r>
          </a:p>
        </p:txBody>
      </p:sp>
      <p:sp>
        <p:nvSpPr>
          <p:cNvPr name="AutoShape 4" id="4"/>
          <p:cNvSpPr/>
          <p:nvPr/>
        </p:nvSpPr>
        <p:spPr>
          <a:xfrm rot="5442506">
            <a:off x="515953" y="4950754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659524" y="4948953"/>
            <a:ext cx="4734145" cy="4734145"/>
          </a:xfrm>
          <a:custGeom>
            <a:avLst/>
            <a:gdLst/>
            <a:ahLst/>
            <a:cxnLst/>
            <a:rect r="r" b="b" t="t" l="l"/>
            <a:pathLst>
              <a:path h="4734145" w="4734145">
                <a:moveTo>
                  <a:pt x="0" y="0"/>
                </a:moveTo>
                <a:lnTo>
                  <a:pt x="4734144" y="0"/>
                </a:lnTo>
                <a:lnTo>
                  <a:pt x="4734144" y="4734145"/>
                </a:lnTo>
                <a:lnTo>
                  <a:pt x="0" y="4734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43334"/>
            <a:chOff x="0" y="0"/>
            <a:chExt cx="24384000" cy="1924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24459"/>
            </a:xfrm>
            <a:custGeom>
              <a:avLst/>
              <a:gdLst/>
              <a:ahLst/>
              <a:cxnLst/>
              <a:rect r="r" b="b" t="t" l="l"/>
              <a:pathLst>
                <a:path h="192445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24459"/>
                  </a:lnTo>
                  <a:lnTo>
                    <a:pt x="0" y="1924459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754380" y="1609725"/>
            <a:ext cx="16504920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 forecasting pipeline successfully combined store metadata, economic indicators, holiday effects, and temporal features to predict weekly retail sales with high accuracy.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After evaluating several models, XGBoost delivered the most stable and accurate performance, showing strong ability to capture seasonality, holiday spikes, and store–department variations.</a:t>
            </a:r>
          </a:p>
          <a:p>
            <a:pPr algn="l" marL="712468" indent="-356234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results confirm that rich feature engineering + optimized ML models often outperform deep learning when the historical time window is limited.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4319"/>
              </a:lnSpc>
            </a:pPr>
            <a:r>
              <a:rPr lang="en-US" sz="3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  <a:p>
            <a:pPr algn="l">
              <a:lnSpc>
                <a:spcPts val="1920"/>
              </a:lnSpc>
            </a:pPr>
          </a:p>
          <a:p>
            <a:pPr algn="l" marL="734056" indent="-367028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dataset covers only three years, limiting long-term seasonal learning.</a:t>
            </a:r>
          </a:p>
          <a:p>
            <a:pPr algn="l" marL="734056" indent="-367028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Several promotional features (MarkDowns) contain large gaps, reducing their usefulness.</a:t>
            </a:r>
          </a:p>
          <a:p>
            <a:pPr algn="l" marL="734056" indent="-367028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Deep learning models struggled due to short sequences per department and sparse data.</a:t>
            </a:r>
          </a:p>
          <a:p>
            <a:pPr algn="l" marL="734056" indent="-367028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pipeline is not yet real-time and cannot continuously update predictions.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3440" y="232172"/>
            <a:ext cx="6588918" cy="87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00" cy="1443334"/>
            <a:chOff x="0" y="0"/>
            <a:chExt cx="24384000" cy="1924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924459"/>
            </a:xfrm>
            <a:custGeom>
              <a:avLst/>
              <a:gdLst/>
              <a:ahLst/>
              <a:cxnLst/>
              <a:rect r="r" b="b" t="t" l="l"/>
              <a:pathLst>
                <a:path h="192445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924459"/>
                  </a:lnTo>
                  <a:lnTo>
                    <a:pt x="0" y="1924459"/>
                  </a:lnTo>
                  <a:close/>
                </a:path>
              </a:pathLst>
            </a:custGeom>
            <a:solidFill>
              <a:srgbClr val="193EB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754380" y="1590675"/>
            <a:ext cx="16504920" cy="541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b="true" sz="3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</a:t>
            </a:r>
            <a:r>
              <a:rPr lang="en-US" b="true" sz="35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ecommendations</a:t>
            </a: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Enhance data quality with richer inputs such as detailed promotions, competitor pricing, and local demographics.</a:t>
            </a: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Automate the forecasting pipeline to update weekly with new data.</a:t>
            </a: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Strengthen feature engineering around holidays, special events, and price elasticity.</a:t>
            </a:r>
          </a:p>
          <a:p>
            <a:pPr algn="l" marL="712467" indent="-35623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Implement a monitoring system to track model performance over time.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4319"/>
              </a:lnSpc>
            </a:pPr>
            <a:r>
              <a:rPr lang="en-US" sz="3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</a:t>
            </a:r>
            <a:r>
              <a:rPr lang="en-US" sz="35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ture Work</a:t>
            </a:r>
          </a:p>
          <a:p>
            <a:pPr algn="l">
              <a:lnSpc>
                <a:spcPts val="1920"/>
              </a:lnSpc>
            </a:pPr>
          </a:p>
          <a:p>
            <a:pPr algn="l" marL="734056" indent="-367028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Explor</a:t>
            </a: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advanced models like TCN, improved Transformers, and model ensembles.</a:t>
            </a:r>
          </a:p>
          <a:p>
            <a:pPr algn="l" marL="734056" indent="-367028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Extend the dataset with more historical years or higher-frequency POS data.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178171" y="5920829"/>
            <a:ext cx="5398458" cy="4114800"/>
          </a:xfrm>
          <a:custGeom>
            <a:avLst/>
            <a:gdLst/>
            <a:ahLst/>
            <a:cxnLst/>
            <a:rect r="r" b="b" t="t" l="l"/>
            <a:pathLst>
              <a:path h="4114800" w="5398458">
                <a:moveTo>
                  <a:pt x="0" y="0"/>
                </a:moveTo>
                <a:lnTo>
                  <a:pt x="5398458" y="0"/>
                </a:lnTo>
                <a:lnTo>
                  <a:pt x="53984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440" y="232172"/>
            <a:ext cx="6588918" cy="87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386102" y="5844392"/>
            <a:ext cx="4355283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915333" y="4009923"/>
            <a:ext cx="6372667" cy="6277077"/>
          </a:xfrm>
          <a:custGeom>
            <a:avLst/>
            <a:gdLst/>
            <a:ahLst/>
            <a:cxnLst/>
            <a:rect r="r" b="b" t="t" l="l"/>
            <a:pathLst>
              <a:path h="6277077" w="6372667">
                <a:moveTo>
                  <a:pt x="0" y="0"/>
                </a:moveTo>
                <a:lnTo>
                  <a:pt x="6372667" y="0"/>
                </a:lnTo>
                <a:lnTo>
                  <a:pt x="6372667" y="6277077"/>
                </a:lnTo>
                <a:lnTo>
                  <a:pt x="0" y="6277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41" y="9514007"/>
            <a:ext cx="5334857" cy="3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33982" y="3486150"/>
            <a:ext cx="6659523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9"/>
              </a:lnSpc>
            </a:pPr>
            <a:r>
              <a:rPr lang="en-US" sz="10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Thank you 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5078" y="8427512"/>
            <a:ext cx="17192922" cy="112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ⓒ2020 SAMSUNG.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896875" y="605937"/>
            <a:ext cx="2513353" cy="315288"/>
          </a:xfrm>
          <a:custGeom>
            <a:avLst/>
            <a:gdLst/>
            <a:ahLst/>
            <a:cxnLst/>
            <a:rect r="r" b="b" t="t" l="l"/>
            <a:pathLst>
              <a:path h="315288" w="2513353">
                <a:moveTo>
                  <a:pt x="0" y="0"/>
                </a:moveTo>
                <a:lnTo>
                  <a:pt x="2513353" y="0"/>
                </a:lnTo>
                <a:lnTo>
                  <a:pt x="2513353" y="315288"/>
                </a:lnTo>
                <a:lnTo>
                  <a:pt x="0" y="31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041182" y="3943319"/>
            <a:ext cx="6205635" cy="1653207"/>
            <a:chOff x="0" y="0"/>
            <a:chExt cx="8274180" cy="2204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74177" cy="2204339"/>
            </a:xfrm>
            <a:custGeom>
              <a:avLst/>
              <a:gdLst/>
              <a:ahLst/>
              <a:cxnLst/>
              <a:rect r="r" b="b" t="t" l="l"/>
              <a:pathLst>
                <a:path h="2204339" w="8274177">
                  <a:moveTo>
                    <a:pt x="0" y="0"/>
                  </a:moveTo>
                  <a:lnTo>
                    <a:pt x="8274177" y="0"/>
                  </a:lnTo>
                  <a:lnTo>
                    <a:pt x="8274177" y="2204339"/>
                  </a:lnTo>
                  <a:lnTo>
                    <a:pt x="0" y="2204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311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DAG51Nw9QLM</dc:identifier>
  <dcterms:modified xsi:type="dcterms:W3CDTF">2011-08-01T06:04:30Z</dcterms:modified>
  <cp:revision>1</cp:revision>
  <dc:title>project_AI702_G5.pptx</dc:title>
</cp:coreProperties>
</file>